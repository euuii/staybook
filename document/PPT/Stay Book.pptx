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4.xml" ContentType="application/vnd.openxmlformats-officedocument.presentationml.notesSlide+xml"/>
  <Override PartName="/ppt/notesSlides/notesSlide12.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6799A1-FD33-2B28-0461-9E99DBD520B2}"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03391DD-7EB8-79C5-8884-A94EF721D4A3}"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5685991-4D20-C74F-5FAD-20C4E20A16AA}"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20FEE27-9F9C-83CF-D00F-6997BCCAE21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7679784-5B4B-91BF-6677-1AA977323267}"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560806A-973F-C855-D660-056F7B9F243A}"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C26C36F-2846-5CB9-4776-CAEB3D20ACD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1C31F8-BE62-CE1C-46F1-F72CC7A326F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19C020-BB20-F3A2-1F99-7AFD11F7B43E}"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AB282F-6A8B-DCD9-DEE9-1AC4308CE48F}"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6B0A6D-6B7A-BA5A-F93E-7910787D120D}"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22FE78-3EB7-19F9-171B-CC54CA8D7F3B}"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74CB477-3635-E76F-E3F0-BFC78993AF66}"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ABC8AB-BCE4-2DED-8F71-7980415F4DB0}"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037183849"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98313077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635538538"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32722373" name="Footer Placeholder 4"/>
          <p:cNvSpPr>
            <a:spLocks noGrp="1"/>
          </p:cNvSpPr>
          <p:nvPr>
            <p:ph type="ftr" sz="quarter" idx="11"/>
          </p:nvPr>
        </p:nvSpPr>
        <p:spPr bwMode="auto"/>
        <p:txBody>
          <a:bodyPr/>
          <a:lstStyle/>
          <a:p>
            <a:pPr>
              <a:defRPr/>
            </a:pPr>
            <a:endParaRPr lang="en-US"/>
          </a:p>
        </p:txBody>
      </p:sp>
      <p:sp>
        <p:nvSpPr>
          <p:cNvPr id="205834604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075948340" name="Title 1"/>
          <p:cNvSpPr>
            <a:spLocks noGrp="1"/>
          </p:cNvSpPr>
          <p:nvPr>
            <p:ph type="title"/>
          </p:nvPr>
        </p:nvSpPr>
        <p:spPr bwMode="auto"/>
        <p:txBody>
          <a:bodyPr/>
          <a:lstStyle/>
          <a:p>
            <a:pPr>
              <a:defRPr/>
            </a:pPr>
            <a:r>
              <a:rPr lang="en-US"/>
              <a:t>Click to edit Master title style</a:t>
            </a:r>
            <a:endParaRPr lang="en-US"/>
          </a:p>
        </p:txBody>
      </p:sp>
      <p:sp>
        <p:nvSpPr>
          <p:cNvPr id="139444878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107899"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709982076" name="Footer Placeholder 4"/>
          <p:cNvSpPr>
            <a:spLocks noGrp="1"/>
          </p:cNvSpPr>
          <p:nvPr>
            <p:ph type="ftr" sz="quarter" idx="11"/>
          </p:nvPr>
        </p:nvSpPr>
        <p:spPr bwMode="auto"/>
        <p:txBody>
          <a:bodyPr/>
          <a:lstStyle/>
          <a:p>
            <a:pPr>
              <a:defRPr/>
            </a:pPr>
            <a:endParaRPr lang="en-US"/>
          </a:p>
        </p:txBody>
      </p:sp>
      <p:sp>
        <p:nvSpPr>
          <p:cNvPr id="80994851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362613212"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331203742"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519112408"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112444969" name="Footer Placeholder 4"/>
          <p:cNvSpPr>
            <a:spLocks noGrp="1"/>
          </p:cNvSpPr>
          <p:nvPr>
            <p:ph type="ftr" sz="quarter" idx="11"/>
          </p:nvPr>
        </p:nvSpPr>
        <p:spPr bwMode="auto"/>
        <p:txBody>
          <a:bodyPr/>
          <a:lstStyle/>
          <a:p>
            <a:pPr>
              <a:defRPr/>
            </a:pPr>
            <a:endParaRPr lang="en-US"/>
          </a:p>
        </p:txBody>
      </p:sp>
      <p:sp>
        <p:nvSpPr>
          <p:cNvPr id="122350258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872558339" name="Title 1"/>
          <p:cNvSpPr>
            <a:spLocks noGrp="1"/>
          </p:cNvSpPr>
          <p:nvPr>
            <p:ph type="title"/>
          </p:nvPr>
        </p:nvSpPr>
        <p:spPr bwMode="auto"/>
        <p:txBody>
          <a:bodyPr/>
          <a:lstStyle/>
          <a:p>
            <a:pPr>
              <a:defRPr/>
            </a:pPr>
            <a:r>
              <a:rPr lang="en-US"/>
              <a:t>Click to edit Master title style</a:t>
            </a:r>
            <a:endParaRPr lang="en-US"/>
          </a:p>
        </p:txBody>
      </p:sp>
      <p:sp>
        <p:nvSpPr>
          <p:cNvPr id="927014341"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41039441"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11886721"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173032965" name="Footer Placeholder 5"/>
          <p:cNvSpPr>
            <a:spLocks noGrp="1"/>
          </p:cNvSpPr>
          <p:nvPr>
            <p:ph type="ftr" sz="quarter" idx="11"/>
          </p:nvPr>
        </p:nvSpPr>
        <p:spPr bwMode="auto"/>
        <p:txBody>
          <a:bodyPr/>
          <a:lstStyle/>
          <a:p>
            <a:pPr>
              <a:defRPr/>
            </a:pPr>
            <a:endParaRPr lang="en-US"/>
          </a:p>
        </p:txBody>
      </p:sp>
      <p:sp>
        <p:nvSpPr>
          <p:cNvPr id="138731699"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119241081"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3750074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4624186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11732413"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12310167"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10056958"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666712664" name="Footer Placeholder 7"/>
          <p:cNvSpPr>
            <a:spLocks noGrp="1"/>
          </p:cNvSpPr>
          <p:nvPr>
            <p:ph type="ftr" sz="quarter" idx="11"/>
          </p:nvPr>
        </p:nvSpPr>
        <p:spPr bwMode="auto"/>
        <p:txBody>
          <a:bodyPr/>
          <a:lstStyle/>
          <a:p>
            <a:pPr>
              <a:defRPr/>
            </a:pPr>
            <a:endParaRPr lang="en-US"/>
          </a:p>
        </p:txBody>
      </p:sp>
      <p:sp>
        <p:nvSpPr>
          <p:cNvPr id="1752342306"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46102879" name="Title 1"/>
          <p:cNvSpPr>
            <a:spLocks noGrp="1"/>
          </p:cNvSpPr>
          <p:nvPr>
            <p:ph type="title"/>
          </p:nvPr>
        </p:nvSpPr>
        <p:spPr bwMode="auto"/>
        <p:txBody>
          <a:bodyPr/>
          <a:lstStyle/>
          <a:p>
            <a:pPr>
              <a:defRPr/>
            </a:pPr>
            <a:r>
              <a:rPr lang="en-US"/>
              <a:t>Click to edit Master title style</a:t>
            </a:r>
            <a:endParaRPr lang="en-US"/>
          </a:p>
        </p:txBody>
      </p:sp>
      <p:sp>
        <p:nvSpPr>
          <p:cNvPr id="571324477"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03094854" name="Footer Placeholder 3"/>
          <p:cNvSpPr>
            <a:spLocks noGrp="1"/>
          </p:cNvSpPr>
          <p:nvPr>
            <p:ph type="ftr" sz="quarter" idx="11"/>
          </p:nvPr>
        </p:nvSpPr>
        <p:spPr bwMode="auto"/>
        <p:txBody>
          <a:bodyPr/>
          <a:lstStyle/>
          <a:p>
            <a:pPr>
              <a:defRPr/>
            </a:pPr>
            <a:endParaRPr lang="en-US"/>
          </a:p>
        </p:txBody>
      </p:sp>
      <p:sp>
        <p:nvSpPr>
          <p:cNvPr id="1623293844"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51526885"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15933499" name="Footer Placeholder 2"/>
          <p:cNvSpPr>
            <a:spLocks noGrp="1"/>
          </p:cNvSpPr>
          <p:nvPr>
            <p:ph type="ftr" sz="quarter" idx="11"/>
          </p:nvPr>
        </p:nvSpPr>
        <p:spPr bwMode="auto"/>
        <p:txBody>
          <a:bodyPr/>
          <a:lstStyle/>
          <a:p>
            <a:pPr>
              <a:defRPr/>
            </a:pPr>
            <a:endParaRPr lang="en-US"/>
          </a:p>
        </p:txBody>
      </p:sp>
      <p:sp>
        <p:nvSpPr>
          <p:cNvPr id="227463103"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38839784"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095096667"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21323616"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674509754"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715020805" name="Footer Placeholder 5"/>
          <p:cNvSpPr>
            <a:spLocks noGrp="1"/>
          </p:cNvSpPr>
          <p:nvPr>
            <p:ph type="ftr" sz="quarter" idx="11"/>
          </p:nvPr>
        </p:nvSpPr>
        <p:spPr bwMode="auto"/>
        <p:txBody>
          <a:bodyPr/>
          <a:lstStyle/>
          <a:p>
            <a:pPr>
              <a:defRPr/>
            </a:pPr>
            <a:endParaRPr lang="en-US"/>
          </a:p>
        </p:txBody>
      </p:sp>
      <p:sp>
        <p:nvSpPr>
          <p:cNvPr id="163908893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944791049"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318954452"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732919815"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655254982"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512898239" name="Footer Placeholder 5"/>
          <p:cNvSpPr>
            <a:spLocks noGrp="1"/>
          </p:cNvSpPr>
          <p:nvPr>
            <p:ph type="ftr" sz="quarter" idx="11"/>
          </p:nvPr>
        </p:nvSpPr>
        <p:spPr bwMode="auto"/>
        <p:txBody>
          <a:bodyPr/>
          <a:lstStyle/>
          <a:p>
            <a:pPr>
              <a:defRPr/>
            </a:pPr>
            <a:endParaRPr lang="en-US"/>
          </a:p>
        </p:txBody>
      </p:sp>
      <p:sp>
        <p:nvSpPr>
          <p:cNvPr id="1995202659"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685751186" name="Title 1"/>
          <p:cNvSpPr>
            <a:spLocks noGrp="1"/>
          </p:cNvSpPr>
          <p:nvPr>
            <p:ph type="title"/>
          </p:nvPr>
        </p:nvSpPr>
        <p:spPr bwMode="auto"/>
        <p:txBody>
          <a:bodyPr/>
          <a:lstStyle/>
          <a:p>
            <a:pPr>
              <a:defRPr/>
            </a:pPr>
            <a:r>
              <a:rPr lang="en-US"/>
              <a:t>Click to edit Master title style</a:t>
            </a:r>
            <a:endParaRPr lang="en-US"/>
          </a:p>
        </p:txBody>
      </p:sp>
      <p:sp>
        <p:nvSpPr>
          <p:cNvPr id="118288652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32547236"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712878278" name="Footer Placeholder 4"/>
          <p:cNvSpPr>
            <a:spLocks noGrp="1"/>
          </p:cNvSpPr>
          <p:nvPr>
            <p:ph type="ftr" sz="quarter" idx="11"/>
          </p:nvPr>
        </p:nvSpPr>
        <p:spPr bwMode="auto"/>
        <p:txBody>
          <a:bodyPr/>
          <a:lstStyle/>
          <a:p>
            <a:pPr>
              <a:defRPr/>
            </a:pPr>
            <a:endParaRPr lang="en-US"/>
          </a:p>
        </p:txBody>
      </p:sp>
      <p:sp>
        <p:nvSpPr>
          <p:cNvPr id="90835021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2097899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472213416"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1147367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877682692" name="Footer Placeholder 4"/>
          <p:cNvSpPr>
            <a:spLocks noGrp="1"/>
          </p:cNvSpPr>
          <p:nvPr>
            <p:ph type="ftr" sz="quarter" idx="11"/>
          </p:nvPr>
        </p:nvSpPr>
        <p:spPr bwMode="auto"/>
        <p:txBody>
          <a:bodyPr/>
          <a:lstStyle/>
          <a:p>
            <a:pPr>
              <a:defRPr/>
            </a:pPr>
            <a:endParaRPr lang="en-US"/>
          </a:p>
        </p:txBody>
      </p:sp>
      <p:sp>
        <p:nvSpPr>
          <p:cNvPr id="82360889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116083565"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554754186"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6755853"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147887846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84867364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746564611"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grpSp>
        <p:nvGrpSpPr>
          <p:cNvPr id="1619761321" name="Group 4"/>
          <p:cNvGrpSpPr/>
          <p:nvPr/>
        </p:nvGrpSpPr>
        <p:grpSpPr bwMode="auto">
          <a:xfrm rot="0">
            <a:off x="8078224" y="8697942"/>
            <a:ext cx="2131553" cy="774671"/>
            <a:chOff x="0" y="0"/>
            <a:chExt cx="2842071" cy="1032894"/>
          </a:xfrm>
        </p:grpSpPr>
        <p:grpSp>
          <p:nvGrpSpPr>
            <p:cNvPr id="5" name="Group 5"/>
            <p:cNvGrpSpPr/>
            <p:nvPr/>
          </p:nvGrpSpPr>
          <p:grpSpPr bwMode="auto">
            <a:xfrm rot="0">
              <a:off x="0" y="0"/>
              <a:ext cx="2842071" cy="1032894"/>
              <a:chOff x="0" y="0"/>
              <a:chExt cx="1913890" cy="695566"/>
            </a:xfrm>
          </p:grpSpPr>
          <p:sp>
            <p:nvSpPr>
              <p:cNvPr id="6" name="Freeform 6"/>
              <p:cNvSpPr/>
              <p:nvPr/>
            </p:nvSpPr>
            <p:spPr bwMode="auto">
              <a:xfrm rot="0" flipH="0" flipV="0">
                <a:off x="31750" y="31750"/>
                <a:ext cx="1849148" cy="632066"/>
              </a:xfrm>
              <a:custGeom>
                <a:avLst/>
                <a:gdLst/>
                <a:ahLst/>
                <a:cxnLst/>
                <a:rect l="l" t="t" r="r" b="b"/>
                <a:pathLst>
                  <a:path w="1849148" h="632066" fill="norm" stroke="1" extrusionOk="0">
                    <a:moveTo>
                      <a:pt x="1757680" y="632066"/>
                    </a:moveTo>
                    <a:lnTo>
                      <a:pt x="92710" y="632066"/>
                    </a:lnTo>
                    <a:cubicBezTo>
                      <a:pt x="41910" y="632066"/>
                      <a:pt x="0" y="590155"/>
                      <a:pt x="0" y="539355"/>
                    </a:cubicBezTo>
                    <a:lnTo>
                      <a:pt x="0" y="92710"/>
                    </a:lnTo>
                    <a:cubicBezTo>
                      <a:pt x="0" y="41910"/>
                      <a:pt x="41910" y="0"/>
                      <a:pt x="92710" y="0"/>
                    </a:cubicBezTo>
                    <a:lnTo>
                      <a:pt x="1756410" y="0"/>
                    </a:lnTo>
                    <a:cubicBezTo>
                      <a:pt x="1807210" y="0"/>
                      <a:pt x="1849120" y="41910"/>
                      <a:pt x="1849120" y="92710"/>
                    </a:cubicBezTo>
                    <a:lnTo>
                      <a:pt x="1849120" y="538086"/>
                    </a:lnTo>
                    <a:cubicBezTo>
                      <a:pt x="1850390" y="590155"/>
                      <a:pt x="1808480" y="632066"/>
                      <a:pt x="1757680" y="632066"/>
                    </a:cubicBezTo>
                    <a:close/>
                  </a:path>
                </a:pathLst>
              </a:custGeom>
              <a:solidFill>
                <a:srgbClr val="1067F4"/>
              </a:solidFill>
            </p:spPr>
          </p:sp>
          <p:sp>
            <p:nvSpPr>
              <p:cNvPr id="7" name="Freeform 7"/>
              <p:cNvSpPr/>
              <p:nvPr/>
            </p:nvSpPr>
            <p:spPr bwMode="auto">
              <a:xfrm rot="0" flipH="0" flipV="0">
                <a:off x="0" y="0"/>
                <a:ext cx="1913890" cy="695566"/>
              </a:xfrm>
              <a:custGeom>
                <a:avLst/>
                <a:gdLst/>
                <a:ahLst/>
                <a:cxnLst/>
                <a:rect l="l" t="t" r="r" b="b"/>
                <a:pathLst>
                  <a:path w="1913890" h="695566" fill="norm" stroke="1" extrusionOk="0">
                    <a:moveTo>
                      <a:pt x="1789430" y="59690"/>
                    </a:moveTo>
                    <a:cubicBezTo>
                      <a:pt x="1824990" y="59690"/>
                      <a:pt x="1854200" y="88900"/>
                      <a:pt x="1854200" y="124460"/>
                    </a:cubicBezTo>
                    <a:lnTo>
                      <a:pt x="1854200" y="571106"/>
                    </a:lnTo>
                    <a:cubicBezTo>
                      <a:pt x="1854200" y="606666"/>
                      <a:pt x="1824990" y="635876"/>
                      <a:pt x="1789430" y="635876"/>
                    </a:cubicBezTo>
                    <a:lnTo>
                      <a:pt x="124460" y="635876"/>
                    </a:lnTo>
                    <a:cubicBezTo>
                      <a:pt x="88900" y="635876"/>
                      <a:pt x="59690" y="606666"/>
                      <a:pt x="59690" y="571106"/>
                    </a:cubicBezTo>
                    <a:lnTo>
                      <a:pt x="59690" y="124460"/>
                    </a:lnTo>
                    <a:cubicBezTo>
                      <a:pt x="59690" y="88900"/>
                      <a:pt x="88900" y="59690"/>
                      <a:pt x="124460" y="59690"/>
                    </a:cubicBezTo>
                    <a:lnTo>
                      <a:pt x="1789430" y="59690"/>
                    </a:lnTo>
                    <a:moveTo>
                      <a:pt x="1789430" y="0"/>
                    </a:moveTo>
                    <a:lnTo>
                      <a:pt x="124460" y="0"/>
                    </a:lnTo>
                    <a:cubicBezTo>
                      <a:pt x="55880" y="0"/>
                      <a:pt x="0" y="55880"/>
                      <a:pt x="0" y="124460"/>
                    </a:cubicBezTo>
                    <a:lnTo>
                      <a:pt x="0" y="571106"/>
                    </a:lnTo>
                    <a:cubicBezTo>
                      <a:pt x="0" y="639686"/>
                      <a:pt x="55880" y="695566"/>
                      <a:pt x="124460" y="695566"/>
                    </a:cubicBezTo>
                    <a:lnTo>
                      <a:pt x="1789430" y="695566"/>
                    </a:lnTo>
                    <a:cubicBezTo>
                      <a:pt x="1858010" y="695566"/>
                      <a:pt x="1913890" y="639686"/>
                      <a:pt x="1913890" y="571106"/>
                    </a:cubicBezTo>
                    <a:lnTo>
                      <a:pt x="1913890" y="124460"/>
                    </a:lnTo>
                    <a:cubicBezTo>
                      <a:pt x="1913890" y="55880"/>
                      <a:pt x="1858010" y="0"/>
                      <a:pt x="1789430" y="0"/>
                    </a:cubicBezTo>
                    <a:close/>
                  </a:path>
                </a:pathLst>
              </a:custGeom>
              <a:solidFill>
                <a:srgbClr val="1067F4"/>
              </a:solidFill>
            </p:spPr>
          </p:sp>
        </p:grpSp>
        <p:sp>
          <p:nvSpPr>
            <p:cNvPr id="8" name="TextBox 8"/>
            <p:cNvSpPr txBox="1"/>
            <p:nvPr/>
          </p:nvSpPr>
          <p:spPr bwMode="auto">
            <a:xfrm rot="0">
              <a:off x="81575" y="230062"/>
              <a:ext cx="2678920" cy="525145"/>
            </a:xfrm>
            <a:prstGeom prst="rect">
              <a:avLst/>
            </a:prstGeom>
            <a:grpFill/>
          </p:spPr>
          <p:txBody>
            <a:bodyPr lIns="0" tIns="0" rIns="0" bIns="0" rtlCol="0" anchor="t">
              <a:spAutoFit/>
            </a:bodyPr>
            <a:lstStyle/>
            <a:p>
              <a:pPr algn="ctr">
                <a:lnSpc>
                  <a:spcPts val="3359"/>
                </a:lnSpc>
                <a:defRPr/>
              </a:pPr>
              <a:r>
                <a:rPr lang="en-US" sz="2400">
                  <a:solidFill>
                    <a:srgbClr val="FAFAFB"/>
                  </a:solidFill>
                  <a:latin typeface="Source Sans Pro"/>
                  <a:ea typeface="Source Sans Pro"/>
                  <a:cs typeface="Source Sans Pro"/>
                </a:rPr>
                <a:t>Book Now </a:t>
              </a:r>
              <a:endParaRPr/>
            </a:p>
          </p:txBody>
        </p:sp>
      </p:grpSp>
      <p:grpSp>
        <p:nvGrpSpPr>
          <p:cNvPr id="1811378781" name="Group 9"/>
          <p:cNvGrpSpPr/>
          <p:nvPr/>
        </p:nvGrpSpPr>
        <p:grpSpPr bwMode="auto">
          <a:xfrm rot="0">
            <a:off x="7600950" y="1433513"/>
            <a:ext cx="3086100" cy="3086100"/>
            <a:chOff x="0" y="0"/>
            <a:chExt cx="812800" cy="812800"/>
          </a:xfrm>
        </p:grpSpPr>
        <p:sp>
          <p:nvSpPr>
            <p:cNvPr id="10" name="Freeform 10"/>
            <p:cNvSpPr/>
            <p:nvPr/>
          </p:nvSpPr>
          <p:spPr bwMode="auto">
            <a:xfrm rot="0" flipH="0" flipV="0">
              <a:off x="0" y="0"/>
              <a:ext cx="812800" cy="812800"/>
            </a:xfrm>
            <a:custGeom>
              <a:avLst/>
              <a:gdLst/>
              <a:ahLst/>
              <a:cxnLst/>
              <a:rect l="l" t="t" r="r" b="b"/>
              <a:pathLst>
                <a:path w="812800" h="812800" fill="norm" stroke="1" extrusionOk="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00000"/>
            </a:solidFill>
          </p:spPr>
        </p:sp>
        <p:sp>
          <p:nvSpPr>
            <p:cNvPr id="11" name="TextBox 11"/>
            <p:cNvSpPr txBox="1"/>
            <p:nvPr/>
          </p:nvSpPr>
          <p:spPr bwMode="auto">
            <a:xfrm>
              <a:off x="63500" y="15875"/>
              <a:ext cx="685800" cy="733424"/>
            </a:xfrm>
            <a:prstGeom prst="rect">
              <a:avLst/>
            </a:prstGeom>
            <a:grpFill/>
          </p:spPr>
          <p:txBody>
            <a:bodyPr lIns="50800" tIns="50800" rIns="50800" bIns="50800" rtlCol="0" anchor="ctr"/>
            <a:lstStyle/>
            <a:p>
              <a:pPr algn="ctr">
                <a:lnSpc>
                  <a:spcPts val="3359"/>
                </a:lnSpc>
                <a:defRPr/>
              </a:pPr>
              <a:endParaRPr/>
            </a:p>
          </p:txBody>
        </p:sp>
      </p:grpSp>
      <p:grpSp>
        <p:nvGrpSpPr>
          <p:cNvPr id="1914651100" name="Group 12"/>
          <p:cNvGrpSpPr/>
          <p:nvPr/>
        </p:nvGrpSpPr>
        <p:grpSpPr bwMode="auto">
          <a:xfrm rot="0">
            <a:off x="7693367" y="1525930"/>
            <a:ext cx="2901266" cy="2901266"/>
            <a:chOff x="0" y="0"/>
            <a:chExt cx="812800" cy="812800"/>
          </a:xfrm>
        </p:grpSpPr>
        <p:sp>
          <p:nvSpPr>
            <p:cNvPr id="13" name="Freeform 13"/>
            <p:cNvSpPr/>
            <p:nvPr/>
          </p:nvSpPr>
          <p:spPr bwMode="auto">
            <a:xfrm rot="0" flipH="0" flipV="0">
              <a:off x="0" y="0"/>
              <a:ext cx="812800" cy="812800"/>
            </a:xfrm>
            <a:custGeom>
              <a:avLst/>
              <a:gdLst/>
              <a:ahLst/>
              <a:cxnLst/>
              <a:rect l="l" t="t" r="r" b="b"/>
              <a:pathLst>
                <a:path w="812800" h="812800" fill="norm" stroke="1" extrusionOk="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FAFAFB"/>
            </a:solidFill>
          </p:spPr>
        </p:sp>
        <p:sp>
          <p:nvSpPr>
            <p:cNvPr id="14" name="TextBox 14"/>
            <p:cNvSpPr txBox="1"/>
            <p:nvPr/>
          </p:nvSpPr>
          <p:spPr bwMode="auto">
            <a:xfrm>
              <a:off x="63500" y="15875"/>
              <a:ext cx="685800" cy="733424"/>
            </a:xfrm>
            <a:prstGeom prst="rect">
              <a:avLst/>
            </a:prstGeom>
            <a:grpFill/>
          </p:spPr>
          <p:txBody>
            <a:bodyPr lIns="50800" tIns="50800" rIns="50800" bIns="50800" rtlCol="0" anchor="ctr"/>
            <a:lstStyle/>
            <a:p>
              <a:pPr algn="ctr">
                <a:lnSpc>
                  <a:spcPts val="3359"/>
                </a:lnSpc>
                <a:defRPr/>
              </a:pPr>
              <a:endParaRPr/>
            </a:p>
          </p:txBody>
        </p:sp>
      </p:grpSp>
      <p:sp>
        <p:nvSpPr>
          <p:cNvPr id="1772156132" name="Freeform 15"/>
          <p:cNvSpPr/>
          <p:nvPr/>
        </p:nvSpPr>
        <p:spPr bwMode="auto">
          <a:xfrm rot="0" flipH="0" flipV="0">
            <a:off x="7970619" y="1803181"/>
            <a:ext cx="2346762" cy="2346762"/>
          </a:xfrm>
          <a:custGeom>
            <a:avLst/>
            <a:gdLst/>
            <a:ahLst/>
            <a:cxnLst/>
            <a:rect l="l" t="t" r="r" b="b"/>
            <a:pathLst>
              <a:path w="2346762" h="2346762" fill="norm" stroke="1" extrusionOk="0">
                <a:moveTo>
                  <a:pt x="0" y="0"/>
                </a:moveTo>
                <a:lnTo>
                  <a:pt x="2346762" y="0"/>
                </a:lnTo>
                <a:lnTo>
                  <a:pt x="2346762" y="2346763"/>
                </a:lnTo>
                <a:lnTo>
                  <a:pt x="0" y="2346763"/>
                </a:lnTo>
                <a:lnTo>
                  <a:pt x="0" y="0"/>
                </a:lnTo>
                <a:close/>
              </a:path>
            </a:pathLst>
          </a:custGeom>
          <a:blipFill>
            <a:blip r:embed="rId3"/>
            <a:stretch>
              <a:fillRect l="0" t="0" r="0" b="0"/>
            </a:stretch>
          </a:blipFill>
        </p:spPr>
      </p:sp>
      <p:sp>
        <p:nvSpPr>
          <p:cNvPr id="2063791300" name="TextBox 16"/>
          <p:cNvSpPr txBox="1"/>
          <p:nvPr/>
        </p:nvSpPr>
        <p:spPr bwMode="auto">
          <a:xfrm rot="0">
            <a:off x="1028700" y="4752974"/>
            <a:ext cx="16230960" cy="1600432"/>
          </a:xfrm>
          <a:prstGeom prst="rect">
            <a:avLst/>
          </a:prstGeom>
        </p:spPr>
        <p:txBody>
          <a:bodyPr lIns="0" tIns="0" rIns="0" bIns="0" rtlCol="0" anchor="t">
            <a:spAutoFit/>
          </a:bodyPr>
          <a:lstStyle/>
          <a:p>
            <a:pPr algn="ctr">
              <a:lnSpc>
                <a:spcPts val="12598"/>
              </a:lnSpc>
              <a:defRPr/>
            </a:pPr>
            <a:r>
              <a:rPr lang="en-US" sz="9000" b="1">
                <a:solidFill>
                  <a:srgbClr val="061313"/>
                </a:solidFill>
                <a:latin typeface="AQUARIUM DISPLAY"/>
                <a:ea typeface="AQUARIUM DISPLAY"/>
                <a:cs typeface="AQUARIUM DISPLAY"/>
              </a:rPr>
              <a:t>STAYBOOK</a:t>
            </a:r>
            <a:endParaRPr/>
          </a:p>
        </p:txBody>
      </p:sp>
      <p:sp>
        <p:nvSpPr>
          <p:cNvPr id="149889904" name="TextBox 17"/>
          <p:cNvSpPr txBox="1"/>
          <p:nvPr/>
        </p:nvSpPr>
        <p:spPr bwMode="auto">
          <a:xfrm rot="0">
            <a:off x="1760764" y="6328623"/>
            <a:ext cx="14766472" cy="613410"/>
          </a:xfrm>
          <a:prstGeom prst="rect">
            <a:avLst/>
          </a:prstGeom>
        </p:spPr>
        <p:txBody>
          <a:bodyPr lIns="0" tIns="0" rIns="0" bIns="0" rtlCol="0" anchor="t">
            <a:spAutoFit/>
          </a:bodyPr>
          <a:lstStyle/>
          <a:p>
            <a:pPr algn="ctr">
              <a:lnSpc>
                <a:spcPts val="5040"/>
              </a:lnSpc>
              <a:defRPr/>
            </a:pPr>
            <a:r>
              <a:rPr lang="en-US" sz="3600">
                <a:solidFill>
                  <a:srgbClr val="545454"/>
                </a:solidFill>
                <a:latin typeface="Open Sauce"/>
                <a:ea typeface="Open Sauce"/>
                <a:cs typeface="Open Sauce"/>
              </a:rPr>
              <a:t>Hotel Management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347508118"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622596507"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Project Overview</a:t>
            </a:r>
            <a:endParaRPr/>
          </a:p>
        </p:txBody>
      </p:sp>
      <p:sp>
        <p:nvSpPr>
          <p:cNvPr id="664605135" name="TextBox 5"/>
          <p:cNvSpPr txBox="1"/>
          <p:nvPr/>
        </p:nvSpPr>
        <p:spPr bwMode="auto">
          <a:xfrm rot="0">
            <a:off x="1028700" y="2083401"/>
            <a:ext cx="16230960" cy="5247873"/>
          </a:xfrm>
          <a:prstGeom prst="rect">
            <a:avLst/>
          </a:prstGeom>
        </p:spPr>
        <p:txBody>
          <a:bodyPr lIns="0" tIns="0" rIns="0" bIns="0" rtlCol="0" anchor="t">
            <a:spAutoFit/>
          </a:bodyPr>
          <a:lstStyle/>
          <a:p>
            <a:pPr algn="just">
              <a:lnSpc>
                <a:spcPts val="4591"/>
              </a:lnSpc>
              <a:defRPr/>
            </a:pPr>
            <a:r>
              <a:rPr lang="en-US" sz="3300">
                <a:solidFill>
                  <a:srgbClr val="000000"/>
                </a:solidFill>
                <a:latin typeface="Canva Sans"/>
                <a:ea typeface="Canva Sans"/>
                <a:cs typeface="Canva Sans"/>
              </a:rPr>
              <a:t>	Staybook is a </a:t>
            </a:r>
            <a:r>
              <a:rPr lang="en-US" sz="3300">
                <a:solidFill>
                  <a:srgbClr val="000000"/>
                </a:solidFill>
                <a:latin typeface="Canva Sans"/>
                <a:ea typeface="Canva Sans"/>
                <a:cs typeface="Canva Sans"/>
              </a:rPr>
              <a:t>desktop application designed for small to medium-sized hotel chains to manage operations across multiple branches. It allows admins to create and oversee accounts, while branch managers handle daily tasks such as room management and guest reservations. The system monitors room availability, pricing, maintenance, and booking records, facilitating easy information search and filtering. Ideal for independent hotels and hospitality management companies, Staybook streamlines coordination for tourist resorts with multiple facilities, enhancing organized booking and inventory management. It is used in various hotel settings, enabling staff to quickly check room statuses and manage reservations effectively.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550027864"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952592941"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System Overview</a:t>
            </a:r>
            <a:endParaRPr/>
          </a:p>
        </p:txBody>
      </p:sp>
      <p:sp>
        <p:nvSpPr>
          <p:cNvPr id="1642434277" name="TextBox 5"/>
          <p:cNvSpPr txBox="1"/>
          <p:nvPr/>
        </p:nvSpPr>
        <p:spPr bwMode="auto">
          <a:xfrm rot="0" flipH="0" flipV="0">
            <a:off x="380607" y="1269721"/>
            <a:ext cx="4449361" cy="547857"/>
          </a:xfrm>
          <a:prstGeom prst="rect">
            <a:avLst/>
          </a:prstGeom>
        </p:spPr>
        <p:txBody>
          <a:bodyPr lIns="0" tIns="0" rIns="0" bIns="0" rtlCol="0" anchor="t">
            <a:spAutoFit/>
          </a:bodyPr>
          <a:lstStyle/>
          <a:p>
            <a:pPr algn="l">
              <a:lnSpc>
                <a:spcPts val="4311"/>
              </a:lnSpc>
              <a:defRPr/>
            </a:pPr>
            <a:r>
              <a:rPr lang="en-US" sz="3100" b="1">
                <a:solidFill>
                  <a:srgbClr val="000000"/>
                </a:solidFill>
                <a:latin typeface="Canva Sans Bold"/>
                <a:ea typeface="Canva Sans Bold"/>
                <a:cs typeface="Canva Sans Bold"/>
              </a:rPr>
              <a:t>User Roles</a:t>
            </a:r>
            <a:endParaRPr/>
          </a:p>
        </p:txBody>
      </p:sp>
      <p:sp>
        <p:nvSpPr>
          <p:cNvPr id="703686325" name="TextBox 6"/>
          <p:cNvSpPr txBox="1"/>
          <p:nvPr/>
        </p:nvSpPr>
        <p:spPr bwMode="auto">
          <a:xfrm rot="0">
            <a:off x="1028700" y="2029691"/>
            <a:ext cx="16230600" cy="7579868"/>
          </a:xfrm>
          <a:prstGeom prst="rect">
            <a:avLst/>
          </a:prstGeom>
        </p:spPr>
        <p:txBody>
          <a:bodyPr lIns="0" tIns="0" rIns="0" bIns="0" rtlCol="0" anchor="t">
            <a:spAutoFit/>
          </a:bodyPr>
          <a:lstStyle/>
          <a:p>
            <a:pPr algn="just">
              <a:lnSpc>
                <a:spcPts val="4311"/>
              </a:lnSpc>
              <a:defRPr/>
            </a:pPr>
            <a:r>
              <a:rPr lang="en-US" sz="3100">
                <a:solidFill>
                  <a:srgbClr val="000000"/>
                </a:solidFill>
                <a:latin typeface="Canva Sans"/>
                <a:ea typeface="Canva Sans"/>
                <a:cs typeface="Canva Sans"/>
              </a:rPr>
              <a:t> </a:t>
            </a:r>
            <a:r>
              <a:rPr lang="en-US" sz="3100" b="1">
                <a:solidFill>
                  <a:srgbClr val="000000"/>
                </a:solidFill>
                <a:latin typeface="Canva Sans Bold"/>
                <a:ea typeface="Canva Sans Bold"/>
                <a:cs typeface="Canva Sans Bold"/>
              </a:rPr>
              <a:t>Administrator</a:t>
            </a:r>
            <a:r>
              <a:rPr lang="en-US" sz="3100">
                <a:solidFill>
                  <a:srgbClr val="000000"/>
                </a:solidFill>
                <a:latin typeface="Canva Sans"/>
                <a:ea typeface="Canva Sans"/>
                <a:cs typeface="Canva Sans"/>
              </a:rPr>
              <a:t> - Administrators have full system control. They create, view, edit,  and delete branch accounts t</a:t>
            </a:r>
            <a:r>
              <a:rPr lang="en-US" sz="3100">
                <a:solidFill>
                  <a:srgbClr val="000000"/>
                </a:solidFill>
                <a:latin typeface="Canva Sans"/>
                <a:ea typeface="Canva Sans"/>
                <a:cs typeface="Canva Sans"/>
              </a:rPr>
              <a:t>o manage all hotel locations in the organization.  Administrators can monitor the entire system and handle all branch-level operations.  However, they cannot directly manage individual rooms or reservations, as these  tasks belong to branch managers at each location.</a:t>
            </a:r>
            <a:endParaRPr/>
          </a:p>
          <a:p>
            <a:pPr algn="just">
              <a:lnSpc>
                <a:spcPts val="4311"/>
              </a:lnSpc>
              <a:defRPr/>
            </a:pPr>
            <a:endParaRPr/>
          </a:p>
          <a:p>
            <a:pPr algn="just">
              <a:lnSpc>
                <a:spcPts val="4311"/>
              </a:lnSpc>
              <a:defRPr/>
            </a:pPr>
            <a:r>
              <a:rPr lang="en-US" sz="3100" b="1">
                <a:solidFill>
                  <a:srgbClr val="000000"/>
                </a:solidFill>
                <a:latin typeface="Canva Sans Bold"/>
                <a:ea typeface="Canva Sans Bold"/>
                <a:cs typeface="Canva Sans Bold"/>
              </a:rPr>
              <a:t>Branch Manager</a:t>
            </a:r>
            <a:r>
              <a:rPr lang="en-US" sz="3100">
                <a:solidFill>
                  <a:srgbClr val="000000"/>
                </a:solidFill>
                <a:latin typeface="Canva Sans"/>
                <a:ea typeface="Canva Sans"/>
                <a:cs typeface="Canva Sans"/>
              </a:rPr>
              <a:t> - Branch managers log in with their branch credentials and have  access only to their assigned location's data. They manage rooms by adding, editing,  and deleting room records while tracking status (available, occupied, or  maintenance). Branch managers handle guest reservations by creating new  bookings, updating existing reservations, and cancelling bookings when needed.  They can search and filter rooms and reservations for quick access to information.  Branch managers are restricted from accessing other branches' data or performing  administrative functions like creating new branch accounts.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891600743"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663771202"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System Overview</a:t>
            </a:r>
            <a:endParaRPr/>
          </a:p>
        </p:txBody>
      </p:sp>
      <p:sp>
        <p:nvSpPr>
          <p:cNvPr id="256386851" name="TextBox 5"/>
          <p:cNvSpPr txBox="1"/>
          <p:nvPr/>
        </p:nvSpPr>
        <p:spPr bwMode="auto">
          <a:xfrm rot="0">
            <a:off x="1028700" y="1537679"/>
            <a:ext cx="2692598" cy="521843"/>
          </a:xfrm>
          <a:prstGeom prst="rect">
            <a:avLst/>
          </a:prstGeom>
        </p:spPr>
        <p:txBody>
          <a:bodyPr lIns="0" tIns="0" rIns="0" bIns="0" rtlCol="0" anchor="t">
            <a:spAutoFit/>
          </a:bodyPr>
          <a:lstStyle/>
          <a:p>
            <a:pPr algn="l">
              <a:lnSpc>
                <a:spcPts val="4311"/>
              </a:lnSpc>
              <a:defRPr/>
            </a:pPr>
            <a:r>
              <a:rPr lang="en-US" sz="3100" b="1">
                <a:solidFill>
                  <a:srgbClr val="000000"/>
                </a:solidFill>
                <a:latin typeface="Canva Sans Bold"/>
                <a:ea typeface="Canva Sans Bold"/>
                <a:cs typeface="Canva Sans Bold"/>
              </a:rPr>
              <a:t>Main Features</a:t>
            </a:r>
            <a:endParaRPr/>
          </a:p>
        </p:txBody>
      </p:sp>
      <p:sp>
        <p:nvSpPr>
          <p:cNvPr id="160683388" name="TextBox 6"/>
          <p:cNvSpPr txBox="1"/>
          <p:nvPr/>
        </p:nvSpPr>
        <p:spPr bwMode="auto">
          <a:xfrm rot="0">
            <a:off x="1361780" y="2568502"/>
            <a:ext cx="15564439" cy="5951093"/>
          </a:xfrm>
          <a:prstGeom prst="rect">
            <a:avLst/>
          </a:prstGeom>
        </p:spPr>
        <p:txBody>
          <a:bodyPr lIns="0" tIns="0" rIns="0" bIns="0" rtlCol="0" anchor="t">
            <a:spAutoFit/>
          </a:bodyPr>
          <a:lstStyle/>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Authentication</a:t>
            </a:r>
            <a:r>
              <a:rPr lang="en-US" sz="3100">
                <a:solidFill>
                  <a:srgbClr val="000000"/>
                </a:solidFill>
                <a:latin typeface="Canva Sans"/>
                <a:ea typeface="Canva Sans"/>
                <a:cs typeface="Canva Sans"/>
              </a:rPr>
              <a:t> – Login system for admin and branch managers</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Room Management</a:t>
            </a:r>
            <a:r>
              <a:rPr lang="en-US" sz="3100">
                <a:solidFill>
                  <a:srgbClr val="000000"/>
                </a:solidFill>
                <a:latin typeface="Canva Sans"/>
                <a:ea typeface="Canva Sans"/>
                <a:cs typeface="Canva Sans"/>
              </a:rPr>
              <a:t> – Add, edit, delete rooms with pricing, capacity, status tracking</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Reservation System</a:t>
            </a:r>
            <a:r>
              <a:rPr lang="en-US" sz="3100">
                <a:solidFill>
                  <a:srgbClr val="000000"/>
                </a:solidFill>
                <a:latin typeface="Canva Sans"/>
                <a:ea typeface="Canva Sans"/>
                <a:cs typeface="Canva Sans"/>
              </a:rPr>
              <a:t> – Create, Update, delete guest bookings with dates and payment status</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Branch Management</a:t>
            </a:r>
            <a:r>
              <a:rPr lang="en-US" sz="3100">
                <a:solidFill>
                  <a:srgbClr val="000000"/>
                </a:solidFill>
                <a:latin typeface="Canva Sans"/>
                <a:ea typeface="Canva Sans"/>
                <a:cs typeface="Canva Sans"/>
              </a:rPr>
              <a:t> – Admin controls for managing branch accounts</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Search/filter</a:t>
            </a:r>
            <a:r>
              <a:rPr lang="en-US" sz="3100">
                <a:solidFill>
                  <a:srgbClr val="000000"/>
                </a:solidFill>
                <a:latin typeface="Canva Sans"/>
                <a:ea typeface="Canva Sans"/>
                <a:cs typeface="Canva Sans"/>
              </a:rPr>
              <a:t> – Real- time filtering across all data tables</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Database</a:t>
            </a:r>
            <a:r>
              <a:rPr lang="en-US" sz="3100">
                <a:solidFill>
                  <a:srgbClr val="000000"/>
                </a:solidFill>
                <a:latin typeface="Canva Sans"/>
                <a:ea typeface="Canva Sans"/>
                <a:cs typeface="Canva Sans"/>
              </a:rPr>
              <a:t> – SQLite storage with isolation </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Status Tracking</a:t>
            </a:r>
            <a:r>
              <a:rPr lang="en-US" sz="3100">
                <a:solidFill>
                  <a:srgbClr val="000000"/>
                </a:solidFill>
                <a:latin typeface="Canva Sans"/>
                <a:ea typeface="Canva Sans"/>
                <a:cs typeface="Canva Sans"/>
              </a:rPr>
              <a:t> – Color – coded room and payment statuses</a:t>
            </a:r>
            <a:endParaRPr/>
          </a:p>
          <a:p>
            <a:pPr marL="664969" lvl="1" indent="-332485" algn="just">
              <a:lnSpc>
                <a:spcPts val="4311"/>
              </a:lnSpc>
              <a:buFont typeface="Arial"/>
              <a:buChar char="•"/>
              <a:defRPr/>
            </a:pPr>
            <a:r>
              <a:rPr lang="en-US" sz="3100" b="1">
                <a:solidFill>
                  <a:srgbClr val="000000"/>
                </a:solidFill>
                <a:latin typeface="Canva Sans Bold"/>
                <a:ea typeface="Canva Sans Bold"/>
                <a:cs typeface="Canva Sans Bold"/>
              </a:rPr>
              <a:t>User Management</a:t>
            </a:r>
            <a:r>
              <a:rPr lang="en-US" sz="3100">
                <a:solidFill>
                  <a:srgbClr val="000000"/>
                </a:solidFill>
                <a:latin typeface="Canva Sans"/>
                <a:ea typeface="Canva Sans"/>
                <a:cs typeface="Canva Sans"/>
              </a:rPr>
              <a:t> -  Role – base access control (admin vs manager)</a:t>
            </a:r>
            <a:endParaRPr/>
          </a:p>
          <a:p>
            <a:pPr algn="just">
              <a:lnSpc>
                <a:spcPts val="4311"/>
              </a:lnSpc>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267739621"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1977274097"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System Overview</a:t>
            </a:r>
            <a:endParaRPr/>
          </a:p>
        </p:txBody>
      </p:sp>
      <p:sp>
        <p:nvSpPr>
          <p:cNvPr id="186701069" name="TextBox 5"/>
          <p:cNvSpPr txBox="1"/>
          <p:nvPr/>
        </p:nvSpPr>
        <p:spPr bwMode="auto">
          <a:xfrm rot="0">
            <a:off x="610144" y="1377091"/>
            <a:ext cx="13714661" cy="906018"/>
          </a:xfrm>
          <a:prstGeom prst="rect">
            <a:avLst/>
          </a:prstGeom>
        </p:spPr>
        <p:txBody>
          <a:bodyPr lIns="0" tIns="0" rIns="0" bIns="0" rtlCol="0" anchor="t">
            <a:spAutoFit/>
          </a:bodyPr>
          <a:lstStyle/>
          <a:p>
            <a:pPr algn="l">
              <a:lnSpc>
                <a:spcPts val="3611"/>
              </a:lnSpc>
              <a:defRPr/>
            </a:pPr>
            <a:r>
              <a:rPr lang="en-US" sz="2600" b="1">
                <a:solidFill>
                  <a:srgbClr val="000000"/>
                </a:solidFill>
                <a:latin typeface="Canva Sans Bold"/>
                <a:ea typeface="Canva Sans Bold"/>
                <a:cs typeface="Canva Sans Bold"/>
              </a:rPr>
              <a:t>Tool and Technology Used/Programming language(s), database, frameworks, and tools</a:t>
            </a:r>
            <a:endParaRPr/>
          </a:p>
          <a:p>
            <a:pPr algn="l">
              <a:lnSpc>
                <a:spcPts val="3611"/>
              </a:lnSpc>
              <a:defRPr/>
            </a:pPr>
            <a:endParaRPr/>
          </a:p>
        </p:txBody>
      </p:sp>
      <p:sp>
        <p:nvSpPr>
          <p:cNvPr id="1428861854" name="TextBox 6"/>
          <p:cNvSpPr txBox="1"/>
          <p:nvPr/>
        </p:nvSpPr>
        <p:spPr bwMode="auto">
          <a:xfrm rot="0">
            <a:off x="1028700" y="2065782"/>
            <a:ext cx="16230600" cy="8221218"/>
          </a:xfrm>
          <a:prstGeom prst="rect">
            <a:avLst/>
          </a:prstGeom>
        </p:spPr>
        <p:txBody>
          <a:bodyPr lIns="0" tIns="0" rIns="0" bIns="0" rtlCol="0" anchor="t">
            <a:spAutoFit/>
          </a:bodyPr>
          <a:lstStyle/>
          <a:p>
            <a:pPr algn="just">
              <a:lnSpc>
                <a:spcPts val="3611"/>
              </a:lnSpc>
              <a:defRPr/>
            </a:pPr>
            <a:r>
              <a:rPr lang="en-US" sz="2600">
                <a:solidFill>
                  <a:srgbClr val="000000"/>
                </a:solidFill>
                <a:latin typeface="Canva Sans"/>
                <a:ea typeface="Canva Sans"/>
                <a:cs typeface="Canva Sans"/>
              </a:rPr>
              <a:t>Programming Language</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Python3</a:t>
            </a:r>
            <a:r>
              <a:rPr lang="en-US" sz="2600">
                <a:solidFill>
                  <a:srgbClr val="000000"/>
                </a:solidFill>
                <a:latin typeface="Canva Sans"/>
                <a:ea typeface="Canva Sans"/>
                <a:cs typeface="Canva Sans"/>
              </a:rPr>
              <a:t> - Core programming language used to implement all system logic and  functionality</a:t>
            </a:r>
            <a:endParaRPr/>
          </a:p>
          <a:p>
            <a:pPr algn="just">
              <a:lnSpc>
                <a:spcPts val="3611"/>
              </a:lnSpc>
              <a:defRPr/>
            </a:pPr>
            <a:r>
              <a:rPr lang="en-US" sz="2600">
                <a:solidFill>
                  <a:srgbClr val="000000"/>
                </a:solidFill>
                <a:latin typeface="Canva Sans"/>
                <a:ea typeface="Canva Sans"/>
                <a:cs typeface="Canva Sans"/>
              </a:rPr>
              <a:t>Data Management System</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SQLite3</a:t>
            </a:r>
            <a:r>
              <a:rPr lang="en-US" sz="2600">
                <a:solidFill>
                  <a:srgbClr val="000000"/>
                </a:solidFill>
                <a:latin typeface="Canva Sans"/>
                <a:ea typeface="Canva Sans"/>
                <a:cs typeface="Canva Sans"/>
              </a:rPr>
              <a:t> -  Lightweight database engine that stores all hotel and user data in local  files</a:t>
            </a:r>
            <a:endParaRPr/>
          </a:p>
          <a:p>
            <a:pPr algn="just">
              <a:lnSpc>
                <a:spcPts val="3611"/>
              </a:lnSpc>
              <a:defRPr/>
            </a:pPr>
            <a:r>
              <a:rPr lang="en-US" sz="2600">
                <a:solidFill>
                  <a:srgbClr val="000000"/>
                </a:solidFill>
                <a:latin typeface="Canva Sans"/>
                <a:ea typeface="Canva Sans"/>
                <a:cs typeface="Canva Sans"/>
              </a:rPr>
              <a:t>Framework</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PyQt6</a:t>
            </a:r>
            <a:r>
              <a:rPr lang="en-US" sz="2600">
                <a:solidFill>
                  <a:srgbClr val="000000"/>
                </a:solidFill>
                <a:latin typeface="Canva Sans"/>
                <a:ea typeface="Canva Sans"/>
                <a:cs typeface="Canva Sans"/>
              </a:rPr>
              <a:t> - GUI framework providing widgets and components for building the desktop  application interface</a:t>
            </a:r>
            <a:endParaRPr/>
          </a:p>
          <a:p>
            <a:pPr algn="just">
              <a:lnSpc>
                <a:spcPts val="3611"/>
              </a:lnSpc>
              <a:defRPr/>
            </a:pPr>
            <a:r>
              <a:rPr lang="en-US" sz="2600">
                <a:solidFill>
                  <a:srgbClr val="000000"/>
                </a:solidFill>
                <a:latin typeface="Canva Sans"/>
                <a:ea typeface="Canva Sans"/>
                <a:cs typeface="Canva Sans"/>
              </a:rPr>
              <a:t>D</a:t>
            </a:r>
            <a:r>
              <a:rPr lang="en-US" sz="2600">
                <a:solidFill>
                  <a:srgbClr val="000000"/>
                </a:solidFill>
                <a:latin typeface="Canva Sans"/>
                <a:ea typeface="Canva Sans"/>
                <a:cs typeface="Canva Sans"/>
              </a:rPr>
              <a:t>evelopment Tools</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Pycharm</a:t>
            </a:r>
            <a:r>
              <a:rPr lang="en-US" sz="2600">
                <a:solidFill>
                  <a:srgbClr val="000000"/>
                </a:solidFill>
                <a:latin typeface="Canva Sans"/>
                <a:ea typeface="Canva Sans"/>
                <a:cs typeface="Canva Sans"/>
              </a:rPr>
              <a:t> - Integrated development environment (IDE) used for writing, debugging,  and testing Python code</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Qt Designer</a:t>
            </a:r>
            <a:r>
              <a:rPr lang="en-US" sz="2600">
                <a:solidFill>
                  <a:srgbClr val="000000"/>
                </a:solidFill>
                <a:latin typeface="Canva Sans"/>
                <a:ea typeface="Canva Sans"/>
                <a:cs typeface="Canva Sans"/>
              </a:rPr>
              <a:t> - Visual design tool used to create and layout user interface forms  through drag-and-drop</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DB Browser</a:t>
            </a:r>
            <a:r>
              <a:rPr lang="en-US" sz="2600">
                <a:solidFill>
                  <a:srgbClr val="000000"/>
                </a:solidFill>
                <a:latin typeface="Canva Sans"/>
                <a:ea typeface="Canva Sans"/>
                <a:cs typeface="Canva Sans"/>
              </a:rPr>
              <a:t> - Graphical tool for viewing and managing SQLite database files during  development</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Python Package Installer (pip)</a:t>
            </a:r>
            <a:r>
              <a:rPr lang="en-US" sz="2600">
                <a:solidFill>
                  <a:srgbClr val="000000"/>
                </a:solidFill>
                <a:latin typeface="Canva Sans"/>
                <a:ea typeface="Canva Sans"/>
                <a:cs typeface="Canva Sans"/>
              </a:rPr>
              <a:t> - Package manager used to install PyQt6</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Github</a:t>
            </a:r>
            <a:r>
              <a:rPr lang="en-US" sz="2600">
                <a:solidFill>
                  <a:srgbClr val="000000"/>
                </a:solidFill>
                <a:latin typeface="Canva Sans"/>
                <a:ea typeface="Canva Sans"/>
                <a:cs typeface="Canva Sans"/>
              </a:rPr>
              <a:t> - Version control system used to track code changes and manage project history</a:t>
            </a:r>
            <a:endParaRPr/>
          </a:p>
          <a:p>
            <a:pPr marL="557022" lvl="1" indent="-278511" algn="just">
              <a:lnSpc>
                <a:spcPts val="3611"/>
              </a:lnSpc>
              <a:buFont typeface="Arial"/>
              <a:buChar char="•"/>
              <a:defRPr/>
            </a:pPr>
            <a:r>
              <a:rPr lang="en-US" sz="2600" b="1">
                <a:solidFill>
                  <a:srgbClr val="000000"/>
                </a:solidFill>
                <a:latin typeface="Canva Sans Bold"/>
                <a:ea typeface="Canva Sans Bold"/>
                <a:cs typeface="Canva Sans Bold"/>
              </a:rPr>
              <a:t>Figma</a:t>
            </a:r>
            <a:r>
              <a:rPr lang="en-US" sz="2600">
                <a:solidFill>
                  <a:srgbClr val="000000"/>
                </a:solidFill>
                <a:latin typeface="Canva Sans"/>
                <a:ea typeface="Canva Sans"/>
                <a:cs typeface="Canva Sans"/>
              </a:rPr>
              <a:t> - Design tool used for creating UI mockups, planning layouts, and designing  interface elements</a:t>
            </a:r>
            <a:endParaRPr/>
          </a:p>
          <a:p>
            <a:pPr algn="just">
              <a:lnSpc>
                <a:spcPts val="3611"/>
              </a:lnSpc>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981226352"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595716437"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Design and Implementation</a:t>
            </a:r>
            <a:endParaRPr/>
          </a:p>
        </p:txBody>
      </p:sp>
      <p:sp>
        <p:nvSpPr>
          <p:cNvPr id="569724792" name="TextBox 5"/>
          <p:cNvSpPr txBox="1"/>
          <p:nvPr/>
        </p:nvSpPr>
        <p:spPr bwMode="auto">
          <a:xfrm rot="0">
            <a:off x="618709" y="1423525"/>
            <a:ext cx="3951391" cy="521843"/>
          </a:xfrm>
          <a:prstGeom prst="rect">
            <a:avLst/>
          </a:prstGeom>
        </p:spPr>
        <p:txBody>
          <a:bodyPr lIns="0" tIns="0" rIns="0" bIns="0" rtlCol="0" anchor="t">
            <a:spAutoFit/>
          </a:bodyPr>
          <a:lstStyle/>
          <a:p>
            <a:pPr algn="l">
              <a:lnSpc>
                <a:spcPts val="4311"/>
              </a:lnSpc>
              <a:defRPr/>
            </a:pPr>
            <a:r>
              <a:rPr lang="en-US" sz="3100" b="1">
                <a:solidFill>
                  <a:srgbClr val="000000"/>
                </a:solidFill>
                <a:latin typeface="Canva Sans Bold"/>
                <a:ea typeface="Canva Sans Bold"/>
                <a:cs typeface="Canva Sans Bold"/>
              </a:rPr>
              <a:t>System Architecture</a:t>
            </a:r>
            <a:endParaRPr/>
          </a:p>
        </p:txBody>
      </p:sp>
      <p:sp>
        <p:nvSpPr>
          <p:cNvPr id="1451211474" name="TextBox 6"/>
          <p:cNvSpPr txBox="1"/>
          <p:nvPr/>
        </p:nvSpPr>
        <p:spPr bwMode="auto">
          <a:xfrm rot="0">
            <a:off x="1028700" y="2345417"/>
            <a:ext cx="16231680" cy="7140934"/>
          </a:xfrm>
          <a:prstGeom prst="rect">
            <a:avLst/>
          </a:prstGeom>
        </p:spPr>
        <p:txBody>
          <a:bodyPr lIns="0" tIns="0" rIns="0" bIns="0" rtlCol="0" anchor="t">
            <a:spAutoFit/>
          </a:bodyPr>
          <a:lstStyle/>
          <a:p>
            <a:pPr algn="just">
              <a:lnSpc>
                <a:spcPts val="4325"/>
              </a:lnSpc>
              <a:defRPr/>
            </a:pPr>
            <a:r>
              <a:rPr lang="en-US" sz="3100">
                <a:solidFill>
                  <a:srgbClr val="000000"/>
                </a:solidFill>
                <a:latin typeface="Canva Sans"/>
                <a:ea typeface="Canva Sans"/>
                <a:cs typeface="Canva Sans"/>
              </a:rPr>
              <a:t>	The StayBook Hotel Management System operates through three interconnected layers that work seamlessly together. The frontend serves as the user interface where staff interact with buttons and input fields to perform daily tasks. When a branch manager clicks "Add Room," for example, the system launches a dialog window for entering room details.</a:t>
            </a:r>
            <a:endParaRPr/>
          </a:p>
          <a:p>
            <a:pPr algn="just">
              <a:lnSpc>
                <a:spcPts val="4325"/>
              </a:lnSpc>
              <a:defRPr/>
            </a:pPr>
            <a:r>
              <a:rPr lang="en-US" sz="3100">
                <a:solidFill>
                  <a:srgbClr val="000000"/>
                </a:solidFill>
                <a:latin typeface="Canva Sans"/>
                <a:ea typeface="Canva Sans"/>
                <a:cs typeface="Canva Sans"/>
              </a:rPr>
              <a:t>	The backend layer processes all user actions by validating inputs to ensure data integrity, such as confirming that price values are numeric and contact information contains only digits. Once validation is complete, the backend communicates with the database to execute the necessary data operations.</a:t>
            </a:r>
            <a:endParaRPr/>
          </a:p>
          <a:p>
            <a:pPr algn="just">
              <a:lnSpc>
                <a:spcPts val="4325"/>
              </a:lnSpc>
              <a:defRPr/>
            </a:pPr>
            <a:r>
              <a:rPr lang="en-US" sz="3100">
                <a:solidFill>
                  <a:srgbClr val="000000"/>
                </a:solidFill>
                <a:latin typeface="Canva Sans"/>
                <a:ea typeface="Canva Sans"/>
                <a:cs typeface="Canva Sans"/>
              </a:rPr>
              <a:t>	The database layer stores and retrieves all critical hotel information, including branch accounts, guest records, and room status. After completing any data operation, the database returns the results to the backend, which then updates the frontend display to reflect the changes that users see on their screens.</a:t>
            </a:r>
            <a:endParaRPr/>
          </a:p>
          <a:p>
            <a:pPr algn="just">
              <a:lnSpc>
                <a:spcPts val="4325"/>
              </a:lnSpc>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446364137"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1496046929"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Design and Implementation</a:t>
            </a:r>
            <a:endParaRPr/>
          </a:p>
        </p:txBody>
      </p:sp>
      <p:sp>
        <p:nvSpPr>
          <p:cNvPr id="255629732" name="TextBox 5"/>
          <p:cNvSpPr txBox="1"/>
          <p:nvPr/>
        </p:nvSpPr>
        <p:spPr bwMode="auto">
          <a:xfrm rot="0">
            <a:off x="380608" y="1619009"/>
            <a:ext cx="3951391" cy="521843"/>
          </a:xfrm>
          <a:prstGeom prst="rect">
            <a:avLst/>
          </a:prstGeom>
        </p:spPr>
        <p:txBody>
          <a:bodyPr lIns="0" tIns="0" rIns="0" bIns="0" rtlCol="0" anchor="t">
            <a:spAutoFit/>
          </a:bodyPr>
          <a:lstStyle/>
          <a:p>
            <a:pPr algn="l">
              <a:lnSpc>
                <a:spcPts val="4311"/>
              </a:lnSpc>
              <a:defRPr/>
            </a:pPr>
            <a:r>
              <a:rPr lang="en-US" sz="3100" b="1">
                <a:solidFill>
                  <a:srgbClr val="000000"/>
                </a:solidFill>
                <a:latin typeface="Canva Sans Bold"/>
                <a:ea typeface="Canva Sans Bold"/>
                <a:cs typeface="Canva Sans Bold"/>
              </a:rPr>
              <a:t>Database Overview</a:t>
            </a:r>
            <a:endParaRPr/>
          </a:p>
        </p:txBody>
      </p:sp>
      <p:sp>
        <p:nvSpPr>
          <p:cNvPr id="1642475406" name="TextBox 6"/>
          <p:cNvSpPr txBox="1"/>
          <p:nvPr/>
        </p:nvSpPr>
        <p:spPr bwMode="auto">
          <a:xfrm rot="0">
            <a:off x="1028700" y="2740687"/>
            <a:ext cx="16230600" cy="5398389"/>
          </a:xfrm>
          <a:prstGeom prst="rect">
            <a:avLst/>
          </a:prstGeom>
        </p:spPr>
        <p:txBody>
          <a:bodyPr lIns="0" tIns="0" rIns="0" bIns="0" rtlCol="0" anchor="t">
            <a:spAutoFit/>
          </a:bodyPr>
          <a:lstStyle/>
          <a:p>
            <a:pPr algn="just">
              <a:lnSpc>
                <a:spcPts val="4325"/>
              </a:lnSpc>
              <a:defRPr/>
            </a:pPr>
            <a:r>
              <a:rPr lang="en-US" sz="3100" b="1">
                <a:solidFill>
                  <a:srgbClr val="000000"/>
                </a:solidFill>
                <a:latin typeface="Canva Sans Bold"/>
                <a:ea typeface="Canva Sans Bold"/>
                <a:cs typeface="Canva Sans Bold"/>
              </a:rPr>
              <a:t>Accounts Database</a:t>
            </a:r>
            <a:r>
              <a:rPr lang="en-US" sz="3100">
                <a:solidFill>
                  <a:srgbClr val="000000"/>
                </a:solidFill>
                <a:latin typeface="Canva Sans"/>
                <a:ea typeface="Canva Sans"/>
                <a:cs typeface="Canva Sans"/>
              </a:rPr>
              <a:t>: Con</a:t>
            </a:r>
            <a:r>
              <a:rPr lang="en-US" sz="3100">
                <a:solidFill>
                  <a:srgbClr val="000000"/>
                </a:solidFill>
                <a:latin typeface="Canva Sans"/>
                <a:ea typeface="Canva Sans"/>
                <a:cs typeface="Canva Sans"/>
              </a:rPr>
              <a:t>tains a</a:t>
            </a:r>
            <a:r>
              <a:rPr lang="en-US" sz="3100">
                <a:solidFill>
                  <a:srgbClr val="000000"/>
                </a:solidFill>
                <a:latin typeface="Canva Sans"/>
                <a:ea typeface="Canva Sans"/>
                <a:cs typeface="Canva Sans"/>
              </a:rPr>
              <a:t>dmin credenti</a:t>
            </a:r>
            <a:r>
              <a:rPr lang="en-US" sz="3100">
                <a:solidFill>
                  <a:srgbClr val="000000"/>
                </a:solidFill>
                <a:latin typeface="Canva Sans"/>
                <a:ea typeface="Canva Sans"/>
                <a:cs typeface="Canva Sans"/>
              </a:rPr>
              <a:t>als with full system access and branch account information (username, password, address, contact) that allows one administrator to manage multiple branches.</a:t>
            </a:r>
            <a:endParaRPr/>
          </a:p>
          <a:p>
            <a:pPr algn="just">
              <a:lnSpc>
                <a:spcPts val="4325"/>
              </a:lnSpc>
              <a:defRPr/>
            </a:pPr>
            <a:r>
              <a:rPr lang="en-US" sz="3100" b="1">
                <a:solidFill>
                  <a:srgbClr val="000000"/>
                </a:solidFill>
                <a:latin typeface="Canva Sans Bold"/>
                <a:ea typeface="Canva Sans Bold"/>
                <a:cs typeface="Canva Sans Bold"/>
              </a:rPr>
              <a:t>Branch Databases</a:t>
            </a:r>
            <a:r>
              <a:rPr lang="en-US" sz="3100">
                <a:solidFill>
                  <a:srgbClr val="000000"/>
                </a:solidFill>
                <a:latin typeface="Canva Sans"/>
                <a:ea typeface="Canva Sans"/>
                <a:cs typeface="Canva Sans"/>
              </a:rPr>
              <a:t>: E</a:t>
            </a:r>
            <a:r>
              <a:rPr lang="en-US" sz="3100">
                <a:solidFill>
                  <a:srgbClr val="000000"/>
                </a:solidFill>
                <a:latin typeface="Canva Sans"/>
                <a:ea typeface="Canva Sans"/>
                <a:cs typeface="Canva Sans"/>
              </a:rPr>
              <a:t>ach branch maintains its own isolated database with two linked tables. The rooms table stores property details including room number, type, price rate, capacity, and status (available, occupied, or maintenance). The </a:t>
            </a:r>
            <a:r>
              <a:rPr lang="en-US" sz="3100">
                <a:solidFill>
                  <a:srgbClr val="000000"/>
                </a:solidFill>
                <a:latin typeface="Canva Sans"/>
                <a:ea typeface="Canva Sans"/>
                <a:cs typeface="Canva Sans"/>
              </a:rPr>
              <a:t>res</a:t>
            </a:r>
            <a:r>
              <a:rPr lang="en-US" sz="3100">
                <a:solidFill>
                  <a:srgbClr val="000000"/>
                </a:solidFill>
                <a:latin typeface="Canva Sans"/>
                <a:ea typeface="Canva Sans"/>
                <a:cs typeface="Canva Sans"/>
              </a:rPr>
              <a:t>ervations table records guest bookings with check-in/check-out dates and payment status. When a reservation is created, the room status automatically changes to occupied. When cancelled, it returns to available.</a:t>
            </a:r>
            <a:endParaRPr/>
          </a:p>
          <a:p>
            <a:pPr algn="just">
              <a:lnSpc>
                <a:spcPts val="4325"/>
              </a:lnSpc>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746787068"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1629459765"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Testing and Evaluation</a:t>
            </a:r>
            <a:endParaRPr/>
          </a:p>
        </p:txBody>
      </p:sp>
      <p:sp>
        <p:nvSpPr>
          <p:cNvPr id="1590120208" name="TextBox 5"/>
          <p:cNvSpPr txBox="1"/>
          <p:nvPr/>
        </p:nvSpPr>
        <p:spPr bwMode="auto">
          <a:xfrm rot="0" flipH="0" flipV="0">
            <a:off x="380607" y="1736388"/>
            <a:ext cx="6545941" cy="690096"/>
          </a:xfrm>
          <a:prstGeom prst="rect">
            <a:avLst/>
          </a:prstGeom>
        </p:spPr>
        <p:txBody>
          <a:bodyPr lIns="0" tIns="0" rIns="0" bIns="0" rtlCol="0" anchor="t">
            <a:spAutoFit/>
          </a:bodyPr>
          <a:lstStyle/>
          <a:p>
            <a:pPr algn="l">
              <a:lnSpc>
                <a:spcPts val="5431"/>
              </a:lnSpc>
              <a:defRPr/>
            </a:pPr>
            <a:r>
              <a:rPr lang="en-US" sz="3900" b="1">
                <a:solidFill>
                  <a:srgbClr val="000000"/>
                </a:solidFill>
                <a:latin typeface="Canva Sans Bold"/>
                <a:ea typeface="Canva Sans Bold"/>
                <a:cs typeface="Canva Sans Bold"/>
              </a:rPr>
              <a:t>Testing Approach</a:t>
            </a:r>
            <a:endParaRPr/>
          </a:p>
        </p:txBody>
      </p:sp>
      <p:sp>
        <p:nvSpPr>
          <p:cNvPr id="484567697" name="TextBox 6"/>
          <p:cNvSpPr txBox="1"/>
          <p:nvPr/>
        </p:nvSpPr>
        <p:spPr bwMode="auto">
          <a:xfrm rot="0">
            <a:off x="1780964" y="3117051"/>
            <a:ext cx="14726072" cy="3986222"/>
          </a:xfrm>
          <a:prstGeom prst="rect">
            <a:avLst/>
          </a:prstGeom>
        </p:spPr>
        <p:txBody>
          <a:bodyPr lIns="0" tIns="0" rIns="0" bIns="0" rtlCol="0" anchor="t">
            <a:spAutoFit/>
          </a:bodyPr>
          <a:lstStyle/>
          <a:p>
            <a:pPr algn="just">
              <a:lnSpc>
                <a:spcPts val="5287"/>
              </a:lnSpc>
              <a:defRPr/>
            </a:pPr>
            <a:r>
              <a:rPr lang="en-US" sz="3800">
                <a:solidFill>
                  <a:srgbClr val="000000"/>
                </a:solidFill>
                <a:latin typeface="Canva Sans"/>
                <a:ea typeface="Canva Sans"/>
                <a:cs typeface="Canva Sans"/>
              </a:rPr>
              <a:t>     The Staybook Hotel Management System was thoroughly tested to ensure all features work correctly, including login, room management, and reservations. Tests checked data accuracy, interface responsiveness, multi-user access, and real-time updates. Error scenarios and edge cases such invalid inputs and double bookings were simulated.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987379953"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805049046"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Testing and Evaluation</a:t>
            </a:r>
            <a:endParaRPr/>
          </a:p>
        </p:txBody>
      </p:sp>
      <p:sp>
        <p:nvSpPr>
          <p:cNvPr id="822760132" name="TextBox 5"/>
          <p:cNvSpPr txBox="1"/>
          <p:nvPr/>
        </p:nvSpPr>
        <p:spPr bwMode="auto">
          <a:xfrm rot="0">
            <a:off x="1028700" y="2017467"/>
            <a:ext cx="16231680" cy="7679414"/>
          </a:xfrm>
          <a:prstGeom prst="rect">
            <a:avLst/>
          </a:prstGeom>
        </p:spPr>
        <p:txBody>
          <a:bodyPr lIns="0" tIns="0" rIns="0" bIns="0" rtlCol="0" anchor="t">
            <a:spAutoFit/>
          </a:bodyPr>
          <a:lstStyle/>
          <a:p>
            <a:pPr marL="621790" lvl="1" indent="-310895" algn="just">
              <a:lnSpc>
                <a:spcPts val="4031"/>
              </a:lnSpc>
              <a:buAutoNum type="arabicPeriod" startAt="1"/>
              <a:defRPr/>
            </a:pPr>
            <a:r>
              <a:rPr lang="en-US" sz="2900" b="1">
                <a:solidFill>
                  <a:srgbClr val="000000"/>
                </a:solidFill>
                <a:latin typeface="Canva Sans Bold"/>
                <a:ea typeface="Canva Sans Bold"/>
                <a:cs typeface="Canva Sans Bold"/>
              </a:rPr>
              <a:t> Ic</a:t>
            </a:r>
            <a:r>
              <a:rPr lang="en-US" sz="2900" b="1">
                <a:solidFill>
                  <a:srgbClr val="000000"/>
                </a:solidFill>
                <a:latin typeface="Canva Sans Bold"/>
                <a:ea typeface="Canva Sans Bold"/>
                <a:cs typeface="Canva Sans Bold"/>
              </a:rPr>
              <a:t>ons/Logos not displaying</a:t>
            </a:r>
            <a:endParaRPr/>
          </a:p>
          <a:p>
            <a:pPr marL="1243581" lvl="2" indent="-414527" algn="just">
              <a:lnSpc>
                <a:spcPts val="4031"/>
              </a:lnSpc>
              <a:buAutoNum type="alphaLcPeriod" startAt="1"/>
              <a:defRPr/>
            </a:pPr>
            <a:r>
              <a:rPr lang="en-US" sz="2900">
                <a:solidFill>
                  <a:srgbClr val="000000"/>
                </a:solidFill>
                <a:latin typeface="Canva Sans"/>
                <a:ea typeface="Canva Sans"/>
                <a:cs typeface="Canva Sans"/>
              </a:rPr>
              <a:t>Images disappeared after converting .ui to .py file with pyuic6 because paths broke during conversion</a:t>
            </a:r>
            <a:endParaRPr/>
          </a:p>
          <a:p>
            <a:pPr marL="1865371" lvl="3" indent="-466343" algn="just">
              <a:lnSpc>
                <a:spcPts val="4031"/>
              </a:lnSpc>
              <a:buAutoNum type="romanLcPeriod" startAt="1"/>
              <a:defRPr/>
            </a:pPr>
            <a:r>
              <a:rPr lang="en-US" sz="2900">
                <a:solidFill>
                  <a:srgbClr val="000000"/>
                </a:solidFill>
                <a:latin typeface="Canva Sans"/>
                <a:ea typeface="Canva Sans"/>
                <a:cs typeface="Canva Sans"/>
              </a:rPr>
              <a:t>Moved all image loading to backend Python files using QPixmap() and QIcon() instead of defining them in Qt Designer</a:t>
            </a:r>
            <a:endParaRPr/>
          </a:p>
          <a:p>
            <a:pPr marL="621790" lvl="1" indent="-310895" algn="just">
              <a:lnSpc>
                <a:spcPts val="4031"/>
              </a:lnSpc>
              <a:buAutoNum type="arabicPeriod" startAt="1"/>
              <a:defRPr/>
            </a:pPr>
            <a:r>
              <a:rPr lang="en-US" sz="2900" b="1">
                <a:solidFill>
                  <a:srgbClr val="000000"/>
                </a:solidFill>
                <a:latin typeface="Canva Sans Bold"/>
                <a:ea typeface="Canva Sans Bold"/>
                <a:cs typeface="Canva Sans Bold"/>
              </a:rPr>
              <a:t> Table Data Not Showing on Login</a:t>
            </a:r>
            <a:endParaRPr/>
          </a:p>
          <a:p>
            <a:pPr marL="1243581" lvl="2" indent="-414527" algn="just">
              <a:lnSpc>
                <a:spcPts val="4031"/>
              </a:lnSpc>
              <a:buAutoNum type="alphaLcPeriod" startAt="1"/>
              <a:defRPr/>
            </a:pPr>
            <a:r>
              <a:rPr lang="en-US" sz="2900">
                <a:solidFill>
                  <a:srgbClr val="000000"/>
                </a:solidFill>
                <a:latin typeface="Canva Sans"/>
                <a:ea typeface="Canva Sans"/>
                <a:cs typeface="Canva Sans"/>
              </a:rPr>
              <a:t>Tables appeared empty when logging back in, even though data existed in database. Data only showed after inserting new records</a:t>
            </a:r>
            <a:endParaRPr/>
          </a:p>
          <a:p>
            <a:pPr marL="1865371" lvl="3" indent="-466343" algn="just">
              <a:lnSpc>
                <a:spcPts val="4031"/>
              </a:lnSpc>
              <a:buAutoNum type="romanLcPeriod" startAt="1"/>
              <a:defRPr/>
            </a:pPr>
            <a:r>
              <a:rPr lang="en-US" sz="2900">
                <a:solidFill>
                  <a:srgbClr val="000000"/>
                </a:solidFill>
                <a:latin typeface="Canva Sans"/>
                <a:ea typeface="Canva Sans"/>
                <a:cs typeface="Canva Sans"/>
              </a:rPr>
              <a:t>Added display_rooms() and display_reservations() calls to navigation methods (showRooms(), showReserve()) to load data when switching views</a:t>
            </a:r>
            <a:endParaRPr/>
          </a:p>
          <a:p>
            <a:pPr marL="621790" lvl="1" indent="-310895" algn="just">
              <a:lnSpc>
                <a:spcPts val="4031"/>
              </a:lnSpc>
              <a:buAutoNum type="arabicPeriod" startAt="1"/>
              <a:defRPr/>
            </a:pPr>
            <a:r>
              <a:rPr lang="en-US" sz="2900" b="1">
                <a:solidFill>
                  <a:srgbClr val="000000"/>
                </a:solidFill>
                <a:latin typeface="Canva Sans Bold"/>
                <a:ea typeface="Canva Sans Bold"/>
                <a:cs typeface="Canva Sans Bold"/>
              </a:rPr>
              <a:t> Room Status Not Saving</a:t>
            </a:r>
            <a:endParaRPr/>
          </a:p>
          <a:p>
            <a:pPr marL="1243581" lvl="2" indent="-414527" algn="just">
              <a:lnSpc>
                <a:spcPts val="4031"/>
              </a:lnSpc>
              <a:buAutoNum type="alphaLcPeriod" startAt="1"/>
              <a:defRPr/>
            </a:pPr>
            <a:r>
              <a:rPr lang="en-US" sz="2900">
                <a:solidFill>
                  <a:srgbClr val="000000"/>
                </a:solidFill>
                <a:latin typeface="Canva Sans"/>
                <a:ea typeface="Canva Sans"/>
                <a:cs typeface="Canva Sans"/>
              </a:rPr>
              <a:t>Selected status (e.g., "Maintenance") was ignored, rooms always saved with "Available" status</a:t>
            </a:r>
            <a:endParaRPr/>
          </a:p>
          <a:p>
            <a:pPr marL="1865371" lvl="3" indent="-466343" algn="just">
              <a:lnSpc>
                <a:spcPts val="4031"/>
              </a:lnSpc>
              <a:buAutoNum type="romanLcPeriod" startAt="1"/>
              <a:defRPr/>
            </a:pPr>
            <a:r>
              <a:rPr lang="en-US" sz="2900">
                <a:solidFill>
                  <a:srgbClr val="000000"/>
                </a:solidFill>
                <a:latin typeface="Canva Sans"/>
                <a:ea typeface="Canva Sans"/>
                <a:cs typeface="Canva Sans"/>
              </a:rPr>
              <a:t>Updated SQL INSERT statement to include status column and passed status value from dropdown to add_room() method</a:t>
            </a:r>
            <a:endParaRPr/>
          </a:p>
        </p:txBody>
      </p:sp>
      <p:sp>
        <p:nvSpPr>
          <p:cNvPr id="1879005285" name="TextBox 6"/>
          <p:cNvSpPr txBox="1"/>
          <p:nvPr/>
        </p:nvSpPr>
        <p:spPr bwMode="auto">
          <a:xfrm rot="0">
            <a:off x="618709" y="1433050"/>
            <a:ext cx="6610708" cy="488823"/>
          </a:xfrm>
          <a:prstGeom prst="rect">
            <a:avLst/>
          </a:prstGeom>
        </p:spPr>
        <p:txBody>
          <a:bodyPr lIns="0" tIns="0" rIns="0" bIns="0" rtlCol="0" anchor="t">
            <a:spAutoFit/>
          </a:bodyPr>
          <a:lstStyle/>
          <a:p>
            <a:pPr algn="l">
              <a:lnSpc>
                <a:spcPts val="4031"/>
              </a:lnSpc>
              <a:defRPr/>
            </a:pPr>
            <a:r>
              <a:rPr lang="en-US" sz="2900" b="1">
                <a:solidFill>
                  <a:srgbClr val="000000"/>
                </a:solidFill>
                <a:latin typeface="Canva Sans Bold"/>
                <a:ea typeface="Canva Sans Bold"/>
                <a:cs typeface="Canva Sans Bold"/>
              </a:rPr>
              <a:t>Issues Encountered and Fixes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317373005"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2007416085" name="TextBox 4"/>
          <p:cNvSpPr txBox="1"/>
          <p:nvPr/>
        </p:nvSpPr>
        <p:spPr bwMode="auto">
          <a:xfrm rot="0">
            <a:off x="380608" y="3175"/>
            <a:ext cx="6848808" cy="862330"/>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Testing and Evaluation</a:t>
            </a:r>
            <a:endParaRPr/>
          </a:p>
        </p:txBody>
      </p:sp>
      <p:sp>
        <p:nvSpPr>
          <p:cNvPr id="1378752520" name="TextBox 5"/>
          <p:cNvSpPr txBox="1"/>
          <p:nvPr/>
        </p:nvSpPr>
        <p:spPr bwMode="auto">
          <a:xfrm rot="0">
            <a:off x="1028700" y="2017467"/>
            <a:ext cx="16239239" cy="5631666"/>
          </a:xfrm>
          <a:prstGeom prst="rect">
            <a:avLst/>
          </a:prstGeom>
        </p:spPr>
        <p:txBody>
          <a:bodyPr lIns="0" tIns="0" rIns="0" bIns="0" rtlCol="0" anchor="t">
            <a:spAutoFit/>
          </a:bodyPr>
          <a:lstStyle/>
          <a:p>
            <a:pPr lvl="1" algn="just">
              <a:lnSpc>
                <a:spcPts val="4031"/>
              </a:lnSpc>
              <a:defRPr/>
            </a:pPr>
            <a:r>
              <a:rPr lang="en-US" sz="2900" b="1">
                <a:solidFill>
                  <a:srgbClr val="000000"/>
                </a:solidFill>
                <a:latin typeface="Canva Sans Bold"/>
                <a:ea typeface="Canva Sans Bold"/>
                <a:cs typeface="Canva Sans Bold"/>
              </a:rPr>
              <a:t>4. Searc</a:t>
            </a:r>
            <a:r>
              <a:rPr lang="en-US" sz="2900" b="1">
                <a:solidFill>
                  <a:srgbClr val="000000"/>
                </a:solidFill>
                <a:latin typeface="Canva Sans Bold"/>
                <a:ea typeface="Canva Sans Bold"/>
                <a:cs typeface="Canva Sans Bold"/>
              </a:rPr>
              <a:t>h Clear</a:t>
            </a:r>
            <a:r>
              <a:rPr lang="en-US" sz="2900" b="1">
                <a:solidFill>
                  <a:srgbClr val="000000"/>
                </a:solidFill>
                <a:latin typeface="Canva Sans Bold"/>
                <a:ea typeface="Canva Sans Bold"/>
                <a:cs typeface="Canva Sans Bold"/>
              </a:rPr>
              <a:t>ing Tables</a:t>
            </a:r>
            <a:endParaRPr/>
          </a:p>
          <a:p>
            <a:pPr marL="1243581" lvl="2" indent="-414527" algn="just">
              <a:lnSpc>
                <a:spcPts val="4031"/>
              </a:lnSpc>
              <a:buAutoNum type="alphaLcPeriod" startAt="1"/>
              <a:defRPr/>
            </a:pPr>
            <a:r>
              <a:rPr lang="en-US" sz="2900">
                <a:solidFill>
                  <a:srgbClr val="000000"/>
                </a:solidFill>
                <a:latin typeface="Canva Sans"/>
                <a:ea typeface="Canva Sans"/>
                <a:cs typeface="Canva Sans"/>
              </a:rPr>
              <a:t>Typing in search field cleared tables permanently; filtered results didn't appear and data didn't return when clearing search</a:t>
            </a:r>
            <a:endParaRPr/>
          </a:p>
          <a:p>
            <a:pPr marL="1865371" lvl="3" indent="-466343" algn="just">
              <a:lnSpc>
                <a:spcPts val="4031"/>
              </a:lnSpc>
              <a:buAutoNum type="romanLcPeriod" startAt="1"/>
              <a:defRPr/>
            </a:pPr>
            <a:r>
              <a:rPr lang="en-US" sz="2900">
                <a:solidFill>
                  <a:srgbClr val="000000"/>
                </a:solidFill>
                <a:latin typeface="Canva Sans"/>
                <a:ea typeface="Canva Sans"/>
                <a:cs typeface="Canva Sans"/>
              </a:rPr>
              <a:t>Implemented two-stage approach: stored all data in self.all_rooms/self.all_reservations, then filtered in-memory data without losing original dataset</a:t>
            </a:r>
            <a:endParaRPr/>
          </a:p>
          <a:p>
            <a:pPr lvl="1" algn="just">
              <a:lnSpc>
                <a:spcPts val="4031"/>
              </a:lnSpc>
              <a:defRPr/>
            </a:pPr>
            <a:r>
              <a:rPr lang="en-US" sz="2900" b="1">
                <a:solidFill>
                  <a:srgbClr val="000000"/>
                </a:solidFill>
                <a:latin typeface="Canva Sans Bold"/>
                <a:ea typeface="Canva Sans Bold"/>
                <a:cs typeface="Canva Sans Bold"/>
              </a:rPr>
              <a:t>5. Branch Database Not Deleting</a:t>
            </a:r>
            <a:endParaRPr/>
          </a:p>
          <a:p>
            <a:pPr marL="1243581" lvl="2" indent="-414527" algn="just">
              <a:lnSpc>
                <a:spcPts val="4031"/>
              </a:lnSpc>
              <a:buAutoNum type="alphaLcPeriod" startAt="1"/>
              <a:defRPr/>
            </a:pPr>
            <a:r>
              <a:rPr lang="en-US" sz="2900">
                <a:solidFill>
                  <a:srgbClr val="000000"/>
                </a:solidFill>
                <a:latin typeface="Canva Sans"/>
                <a:ea typeface="Canva Sans"/>
                <a:cs typeface="Canva Sans"/>
              </a:rPr>
              <a:t>When admin deleted a branch account, the database file wasn't removed because self.username contained "Administrator" instead of the branch's actual username</a:t>
            </a:r>
            <a:endParaRPr/>
          </a:p>
          <a:p>
            <a:pPr marL="1865371" lvl="3" indent="-466343" algn="just">
              <a:lnSpc>
                <a:spcPts val="4031"/>
              </a:lnSpc>
              <a:buAutoNum type="romanLcPeriod" startAt="1"/>
              <a:defRPr/>
            </a:pPr>
            <a:r>
              <a:rPr lang="en-US" sz="2900">
                <a:solidFill>
                  <a:srgbClr val="000000"/>
                </a:solidFill>
                <a:latin typeface="Canva Sans"/>
                <a:ea typeface="Canva Sans"/>
                <a:cs typeface="Canva Sans"/>
              </a:rPr>
              <a:t>Retrieved branch data before deletion using get_branch_by_id() to get actual username: branch_username = branch['username'], then constructed correct path: f"branch_database/{branch_username}.db"</a:t>
            </a:r>
            <a:endParaRPr/>
          </a:p>
        </p:txBody>
      </p:sp>
      <p:sp>
        <p:nvSpPr>
          <p:cNvPr id="1274290273" name="TextBox 6"/>
          <p:cNvSpPr txBox="1"/>
          <p:nvPr/>
        </p:nvSpPr>
        <p:spPr bwMode="auto">
          <a:xfrm rot="0">
            <a:off x="618709" y="1433050"/>
            <a:ext cx="6610708" cy="488823"/>
          </a:xfrm>
          <a:prstGeom prst="rect">
            <a:avLst/>
          </a:prstGeom>
        </p:spPr>
        <p:txBody>
          <a:bodyPr lIns="0" tIns="0" rIns="0" bIns="0" rtlCol="0" anchor="t">
            <a:spAutoFit/>
          </a:bodyPr>
          <a:lstStyle/>
          <a:p>
            <a:pPr algn="l">
              <a:lnSpc>
                <a:spcPts val="4031"/>
              </a:lnSpc>
              <a:defRPr/>
            </a:pPr>
            <a:r>
              <a:rPr lang="en-US" sz="2900" b="1">
                <a:solidFill>
                  <a:srgbClr val="000000"/>
                </a:solidFill>
                <a:latin typeface="Canva Sans Bold"/>
                <a:ea typeface="Canva Sans Bold"/>
                <a:cs typeface="Canva Sans Bold"/>
              </a:rPr>
              <a:t>Issues Encountered and Fixes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664801287"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1396753258" name="TextBox 4"/>
          <p:cNvSpPr txBox="1"/>
          <p:nvPr/>
        </p:nvSpPr>
        <p:spPr bwMode="auto">
          <a:xfrm rot="0" flipH="0" flipV="0">
            <a:off x="380607" y="3174"/>
            <a:ext cx="14545861" cy="764772"/>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Summary and Recommendations</a:t>
            </a:r>
            <a:endParaRPr/>
          </a:p>
        </p:txBody>
      </p:sp>
      <p:sp>
        <p:nvSpPr>
          <p:cNvPr id="273966433" name="TextBox 5"/>
          <p:cNvSpPr txBox="1"/>
          <p:nvPr/>
        </p:nvSpPr>
        <p:spPr bwMode="auto">
          <a:xfrm rot="0">
            <a:off x="380608" y="1474687"/>
            <a:ext cx="1827758" cy="521843"/>
          </a:xfrm>
          <a:prstGeom prst="rect">
            <a:avLst/>
          </a:prstGeom>
        </p:spPr>
        <p:txBody>
          <a:bodyPr lIns="0" tIns="0" rIns="0" bIns="0" rtlCol="0" anchor="t">
            <a:spAutoFit/>
          </a:bodyPr>
          <a:lstStyle/>
          <a:p>
            <a:pPr algn="l">
              <a:lnSpc>
                <a:spcPts val="4311"/>
              </a:lnSpc>
              <a:defRPr/>
            </a:pPr>
            <a:r>
              <a:rPr lang="en-US" sz="3100" b="1">
                <a:solidFill>
                  <a:srgbClr val="000000"/>
                </a:solidFill>
                <a:latin typeface="Canva Sans Bold"/>
                <a:ea typeface="Canva Sans Bold"/>
                <a:cs typeface="Canva Sans Bold"/>
              </a:rPr>
              <a:t>Summary</a:t>
            </a:r>
            <a:endParaRPr/>
          </a:p>
        </p:txBody>
      </p:sp>
      <p:sp>
        <p:nvSpPr>
          <p:cNvPr id="1232900559" name="TextBox 6"/>
          <p:cNvSpPr txBox="1"/>
          <p:nvPr/>
        </p:nvSpPr>
        <p:spPr bwMode="auto">
          <a:xfrm rot="0">
            <a:off x="1028700" y="2606130"/>
            <a:ext cx="16230600" cy="3779393"/>
          </a:xfrm>
          <a:prstGeom prst="rect">
            <a:avLst/>
          </a:prstGeom>
        </p:spPr>
        <p:txBody>
          <a:bodyPr lIns="0" tIns="0" rIns="0" bIns="0" rtlCol="0" anchor="t">
            <a:spAutoFit/>
          </a:bodyPr>
          <a:lstStyle/>
          <a:p>
            <a:pPr algn="just">
              <a:lnSpc>
                <a:spcPts val="4311"/>
              </a:lnSpc>
              <a:defRPr/>
            </a:pPr>
            <a:r>
              <a:rPr lang="en-US" sz="3100">
                <a:solidFill>
                  <a:srgbClr val="000000"/>
                </a:solidFill>
                <a:latin typeface="Canva Sans"/>
                <a:ea typeface="Canva Sans"/>
                <a:cs typeface="Canva Sans"/>
              </a:rPr>
              <a:t>StayBook offers role-based access control where administrators manage branch accounts and branch managers handle room and reservation operations. The system provides comprehensive room management with pricing, capacity, and status tracking capabilities. Administrators can e</a:t>
            </a:r>
            <a:r>
              <a:rPr lang="en-US" sz="3100">
                <a:solidFill>
                  <a:srgbClr val="000000"/>
                </a:solidFill>
                <a:latin typeface="Canva Sans"/>
                <a:ea typeface="Canva Sans"/>
                <a:cs typeface="Canva Sans"/>
              </a:rPr>
              <a:t>asily create, edit, and delete branch accounts to manage multiple hotel properties. The application uses color-coded status indicators throughout the interface, allowing staff to quickly identify room availability, occupancy status, maintenance needs, and payment statuses at a glance.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475544513"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274224971" name="TextBox 4"/>
          <p:cNvSpPr txBox="1"/>
          <p:nvPr/>
        </p:nvSpPr>
        <p:spPr bwMode="auto">
          <a:xfrm rot="0" flipH="0" flipV="0">
            <a:off x="380607" y="3174"/>
            <a:ext cx="15180861" cy="764772"/>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Summary and Recommendations</a:t>
            </a:r>
            <a:endParaRPr/>
          </a:p>
        </p:txBody>
      </p:sp>
      <p:sp>
        <p:nvSpPr>
          <p:cNvPr id="2085344363" name="TextBox 5"/>
          <p:cNvSpPr txBox="1"/>
          <p:nvPr/>
        </p:nvSpPr>
        <p:spPr bwMode="auto">
          <a:xfrm rot="0">
            <a:off x="380608" y="1478624"/>
            <a:ext cx="2145804" cy="521843"/>
          </a:xfrm>
          <a:prstGeom prst="rect">
            <a:avLst/>
          </a:prstGeom>
        </p:spPr>
        <p:txBody>
          <a:bodyPr lIns="0" tIns="0" rIns="0" bIns="0" rtlCol="0" anchor="t">
            <a:spAutoFit/>
          </a:bodyPr>
          <a:lstStyle/>
          <a:p>
            <a:pPr algn="l">
              <a:lnSpc>
                <a:spcPts val="4311"/>
              </a:lnSpc>
              <a:defRPr/>
            </a:pPr>
            <a:r>
              <a:rPr lang="en-US" sz="3100" b="1">
                <a:solidFill>
                  <a:srgbClr val="000000"/>
                </a:solidFill>
                <a:latin typeface="Canva Sans Bold"/>
                <a:ea typeface="Canva Sans Bold"/>
                <a:cs typeface="Canva Sans Bold"/>
              </a:rPr>
              <a:t>Conclusion</a:t>
            </a:r>
            <a:endParaRPr/>
          </a:p>
        </p:txBody>
      </p:sp>
      <p:sp>
        <p:nvSpPr>
          <p:cNvPr id="1667984402" name="TextBox 6"/>
          <p:cNvSpPr txBox="1"/>
          <p:nvPr/>
        </p:nvSpPr>
        <p:spPr bwMode="auto">
          <a:xfrm rot="0">
            <a:off x="1028700" y="2448143"/>
            <a:ext cx="16230600" cy="6494018"/>
          </a:xfrm>
          <a:prstGeom prst="rect">
            <a:avLst/>
          </a:prstGeom>
        </p:spPr>
        <p:txBody>
          <a:bodyPr lIns="0" tIns="0" rIns="0" bIns="0" rtlCol="0" anchor="t">
            <a:spAutoFit/>
          </a:bodyPr>
          <a:lstStyle/>
          <a:p>
            <a:pPr algn="just">
              <a:lnSpc>
                <a:spcPts val="4312"/>
              </a:lnSpc>
              <a:defRPr/>
            </a:pPr>
            <a:r>
              <a:rPr lang="en-US" sz="3100">
                <a:solidFill>
                  <a:srgbClr val="000000"/>
                </a:solidFill>
                <a:latin typeface="Canva Sans"/>
                <a:ea typeface="Canva Sans"/>
                <a:cs typeface="Canva Sans"/>
              </a:rPr>
              <a:t> StayBook Hotel Management System is an effective solution for managing multi-branch hotel operations with a straightforward design that makes it accessible to staff with minimal technical training. The role-based access control ensures data security and proper workflow management across the organization. The system provides centralized control for administrators overseeing multiple branches, while real-time room and reservation tracking reduces booking conflicts and improves operational efficiency. </a:t>
            </a:r>
            <a:r>
              <a:rPr lang="en-US" sz="3100">
                <a:solidFill>
                  <a:srgbClr val="000000"/>
                </a:solidFill>
                <a:latin typeface="Canva Sans"/>
                <a:ea typeface="Canva Sans"/>
                <a:cs typeface="Canva Sans"/>
              </a:rPr>
              <a:t>Database isolation prevents accidental data mixing between branches, and the simple interface reduces staff training time. By</a:t>
            </a:r>
            <a:r>
              <a:rPr lang="en-US" sz="3100">
                <a:solidFill>
                  <a:srgbClr val="000000"/>
                </a:solidFill>
                <a:latin typeface="Canva Sans"/>
                <a:ea typeface="Canva Sans"/>
                <a:cs typeface="Canva Sans"/>
              </a:rPr>
              <a:t> automating hotel management tasks, StayBook reduces manual paperwork and human error while providing instant visibility into room availability and reservation status, enabling faster and more efficient customer service.</a:t>
            </a:r>
            <a:endParaRPr/>
          </a:p>
          <a:p>
            <a:pPr algn="just">
              <a:lnSpc>
                <a:spcPts val="4312"/>
              </a:lnSpc>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92025497"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sp>
        <p:nvSpPr>
          <p:cNvPr id="200174873" name="TextBox 4"/>
          <p:cNvSpPr txBox="1"/>
          <p:nvPr/>
        </p:nvSpPr>
        <p:spPr bwMode="auto">
          <a:xfrm rot="0" flipH="0" flipV="0">
            <a:off x="380607" y="3174"/>
            <a:ext cx="13188975" cy="764772"/>
          </a:xfrm>
          <a:prstGeom prst="rect">
            <a:avLst/>
          </a:prstGeom>
        </p:spPr>
        <p:txBody>
          <a:bodyPr lIns="0" tIns="0" rIns="0" bIns="0" rtlCol="0" anchor="t">
            <a:spAutoFit/>
          </a:bodyPr>
          <a:lstStyle/>
          <a:p>
            <a:pPr algn="l">
              <a:lnSpc>
                <a:spcPts val="6019"/>
              </a:lnSpc>
              <a:defRPr/>
            </a:pPr>
            <a:r>
              <a:rPr lang="en-US" sz="4300">
                <a:solidFill>
                  <a:srgbClr val="FFFFFF"/>
                </a:solidFill>
                <a:latin typeface="Rustic Printed"/>
                <a:ea typeface="Rustic Printed"/>
                <a:cs typeface="Rustic Printed"/>
              </a:rPr>
              <a:t>Summary and Recommendations</a:t>
            </a:r>
            <a:endParaRPr/>
          </a:p>
        </p:txBody>
      </p:sp>
      <p:sp>
        <p:nvSpPr>
          <p:cNvPr id="1224304042" name="TextBox 5"/>
          <p:cNvSpPr txBox="1"/>
          <p:nvPr/>
        </p:nvSpPr>
        <p:spPr bwMode="auto">
          <a:xfrm rot="0">
            <a:off x="380608" y="1191617"/>
            <a:ext cx="3003352" cy="448818"/>
          </a:xfrm>
          <a:prstGeom prst="rect">
            <a:avLst/>
          </a:prstGeom>
        </p:spPr>
        <p:txBody>
          <a:bodyPr lIns="0" tIns="0" rIns="0" bIns="0" rtlCol="0" anchor="t">
            <a:spAutoFit/>
          </a:bodyPr>
          <a:lstStyle/>
          <a:p>
            <a:pPr algn="l">
              <a:lnSpc>
                <a:spcPts val="3611"/>
              </a:lnSpc>
              <a:defRPr/>
            </a:pPr>
            <a:r>
              <a:rPr lang="en-US" sz="2600" b="1">
                <a:solidFill>
                  <a:srgbClr val="000000"/>
                </a:solidFill>
                <a:latin typeface="Canva Sans Bold"/>
                <a:ea typeface="Canva Sans Bold"/>
                <a:cs typeface="Canva Sans Bold"/>
              </a:rPr>
              <a:t>Recommendations</a:t>
            </a:r>
            <a:endParaRPr/>
          </a:p>
        </p:txBody>
      </p:sp>
      <p:sp>
        <p:nvSpPr>
          <p:cNvPr id="544753153" name="TextBox 6"/>
          <p:cNvSpPr txBox="1"/>
          <p:nvPr/>
        </p:nvSpPr>
        <p:spPr bwMode="auto">
          <a:xfrm rot="0">
            <a:off x="647140" y="1803352"/>
            <a:ext cx="16993719" cy="7764122"/>
          </a:xfrm>
          <a:prstGeom prst="rect">
            <a:avLst/>
          </a:prstGeom>
        </p:spPr>
        <p:txBody>
          <a:bodyPr lIns="0" tIns="0" rIns="0" bIns="0" rtlCol="0" anchor="t">
            <a:spAutoFit/>
          </a:bodyPr>
          <a:lstStyle/>
          <a:p>
            <a:pPr marL="556138" lvl="1" indent="-278069" algn="just">
              <a:lnSpc>
                <a:spcPts val="3606"/>
              </a:lnSpc>
              <a:buAutoNum type="arabicPeriod" startAt="1"/>
              <a:defRPr/>
            </a:pPr>
            <a:r>
              <a:rPr lang="en-US" sz="2600" b="1">
                <a:solidFill>
                  <a:srgbClr val="000000"/>
                </a:solidFill>
                <a:latin typeface="Canva Sans Bold"/>
                <a:ea typeface="Canva Sans Bold"/>
                <a:cs typeface="Canva Sans Bold"/>
              </a:rPr>
              <a:t>Hash passwords</a:t>
            </a:r>
            <a:r>
              <a:rPr lang="en-US" sz="2600">
                <a:solidFill>
                  <a:srgbClr val="000000"/>
                </a:solidFill>
                <a:latin typeface="Canva Sans"/>
                <a:ea typeface="Canva Sans"/>
                <a:cs typeface="Canva Sans"/>
              </a:rPr>
              <a:t> - Use bcrypt or hashlib instead of storing plain text for better security. Currently, all passwords are stored as readable text in the database, which is a major security risk if the database is compromised. Implementing password hashing will protect user credentials and make the system more secure.</a:t>
            </a:r>
            <a:endParaRPr/>
          </a:p>
          <a:p>
            <a:pPr marL="556138" lvl="1" indent="-278069" algn="just">
              <a:lnSpc>
                <a:spcPts val="3606"/>
              </a:lnSpc>
              <a:buAutoNum type="arabicPeriod" startAt="1"/>
              <a:defRPr/>
            </a:pPr>
            <a:r>
              <a:rPr lang="en-US" sz="2600" b="1">
                <a:solidFill>
                  <a:srgbClr val="000000"/>
                </a:solidFill>
                <a:latin typeface="Canva Sans Bold"/>
                <a:ea typeface="Canva Sans Bold"/>
                <a:cs typeface="Canva Sans Bold"/>
              </a:rPr>
              <a:t>Add show/hide password visibility toggles in the branch management table</a:t>
            </a:r>
            <a:r>
              <a:rPr lang="en-US" sz="2600">
                <a:solidFill>
                  <a:srgbClr val="000000"/>
                </a:solidFill>
                <a:latin typeface="Canva Sans"/>
                <a:ea typeface="Canva Sans"/>
                <a:cs typeface="Canva Sans"/>
              </a:rPr>
              <a:t> - Admins managing branches need the ability to toggle between displaying passwords as plain text or asterisks. Currently, all branch passwords are visible in the table by default, which is a security risk. Each row should have an independent toggle button that allows admins to reveal or hide passwords as needed without exposing them to everyone viewing the screen.</a:t>
            </a:r>
            <a:endParaRPr/>
          </a:p>
          <a:p>
            <a:pPr marL="556138" lvl="1" indent="-278069" algn="just">
              <a:lnSpc>
                <a:spcPts val="3606"/>
              </a:lnSpc>
              <a:buAutoNum type="arabicPeriod" startAt="1"/>
              <a:defRPr/>
            </a:pPr>
            <a:r>
              <a:rPr lang="en-US" sz="2600" b="1">
                <a:solidFill>
                  <a:srgbClr val="000000"/>
                </a:solidFill>
                <a:latin typeface="Canva Sans Bold"/>
                <a:ea typeface="Canva Sans Bold"/>
                <a:cs typeface="Canva Sans Bold"/>
              </a:rPr>
              <a:t>Allow admins to delete their own account and branch accounts </a:t>
            </a:r>
            <a:r>
              <a:rPr lang="en-US" sz="2600">
                <a:solidFill>
                  <a:srgbClr val="000000"/>
                </a:solidFill>
                <a:latin typeface="Canva Sans"/>
                <a:ea typeface="Canva Sans"/>
                <a:cs typeface="Canva Sans"/>
              </a:rPr>
              <a:t>- Requires password confirmation to prevent accidental deletion. This feature should include a confirmation dialog asking users to enter their password before permanently removing admin or branch accounts from the system.</a:t>
            </a:r>
            <a:endParaRPr/>
          </a:p>
          <a:p>
            <a:pPr marL="556138" lvl="1" indent="-278069" algn="just">
              <a:lnSpc>
                <a:spcPts val="3606"/>
              </a:lnSpc>
              <a:buAutoNum type="arabicPeriod" startAt="1"/>
              <a:defRPr/>
            </a:pPr>
            <a:r>
              <a:rPr lang="en-US" sz="2600" b="1">
                <a:solidFill>
                  <a:srgbClr val="000000"/>
                </a:solidFill>
                <a:latin typeface="Canva Sans Bold"/>
                <a:ea typeface="Canva Sans Bold"/>
                <a:cs typeface="Canva Sans Bold"/>
              </a:rPr>
              <a:t>Include user activity logging</a:t>
            </a:r>
            <a:r>
              <a:rPr lang="en-US" sz="2600">
                <a:solidFill>
                  <a:srgbClr val="000000"/>
                </a:solidFill>
                <a:latin typeface="Canva Sans"/>
                <a:ea typeface="Canva Sans"/>
                <a:cs typeface="Canva Sans"/>
              </a:rPr>
              <a:t> - Track who made changes and when in the system. This creates an audit trail that helps identify unauthorized access, track mistakes, and maintain accountability among staff members using the application.</a:t>
            </a:r>
            <a:endParaRPr/>
          </a:p>
          <a:p>
            <a:pPr marL="556138" lvl="1" indent="-278069" algn="just">
              <a:lnSpc>
                <a:spcPts val="3606"/>
              </a:lnSpc>
              <a:buAutoNum type="arabicPeriod" startAt="1"/>
              <a:defRPr/>
            </a:pPr>
            <a:r>
              <a:rPr lang="en-US" sz="2600" b="1">
                <a:solidFill>
                  <a:srgbClr val="000000"/>
                </a:solidFill>
                <a:latin typeface="Canva Sans Bold"/>
                <a:ea typeface="Canva Sans Bold"/>
                <a:cs typeface="Canva Sans Bold"/>
              </a:rPr>
              <a:t>Implement session timeout for inactive users</a:t>
            </a:r>
            <a:r>
              <a:rPr lang="en-US" sz="2600">
                <a:solidFill>
                  <a:srgbClr val="000000"/>
                </a:solidFill>
                <a:latin typeface="Canva Sans"/>
                <a:ea typeface="Canva Sans"/>
                <a:cs typeface="Canva Sans"/>
              </a:rPr>
              <a:t> - Automatically log them out after a period of inactivity. This prevents unauthorized access if a user forgets to log out or leaves their computer unattended.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5F6F8"/>
        </a:solidFill>
      </p:bgPr>
    </p:bg>
    <p:spTree>
      <p:nvGrpSpPr>
        <p:cNvPr id="1" name=""/>
        <p:cNvGrpSpPr/>
        <p:nvPr/>
      </p:nvGrpSpPr>
      <p:grpSpPr bwMode="auto">
        <a:xfrm>
          <a:off x="0" y="0"/>
          <a:ext cx="0" cy="0"/>
          <a:chOff x="0" y="0"/>
          <a:chExt cx="0" cy="0"/>
        </a:xfrm>
      </p:grpSpPr>
      <p:grpSp>
        <p:nvGrpSpPr>
          <p:cNvPr id="1625942143" name="Group 2"/>
          <p:cNvGrpSpPr/>
          <p:nvPr/>
        </p:nvGrpSpPr>
        <p:grpSpPr bwMode="auto">
          <a:xfrm rot="0">
            <a:off x="0" y="0"/>
            <a:ext cx="18288000" cy="1028700"/>
            <a:chOff x="0" y="0"/>
            <a:chExt cx="22991996" cy="1293300"/>
          </a:xfrm>
        </p:grpSpPr>
        <p:sp>
          <p:nvSpPr>
            <p:cNvPr id="3" name="Freeform 3"/>
            <p:cNvSpPr/>
            <p:nvPr/>
          </p:nvSpPr>
          <p:spPr bwMode="auto">
            <a:xfrm rot="0" flipH="0" flipV="0">
              <a:off x="0" y="0"/>
              <a:ext cx="22991996" cy="1293300"/>
            </a:xfrm>
            <a:custGeom>
              <a:avLst/>
              <a:gdLst/>
              <a:ahLst/>
              <a:cxnLst/>
              <a:rect l="l" t="t" r="r" b="b"/>
              <a:pathLst>
                <a:path w="22991997" h="1293300" fill="norm" stroke="1" extrusionOk="0">
                  <a:moveTo>
                    <a:pt x="0" y="0"/>
                  </a:moveTo>
                  <a:lnTo>
                    <a:pt x="22991997" y="0"/>
                  </a:lnTo>
                  <a:lnTo>
                    <a:pt x="22991997" y="1293300"/>
                  </a:lnTo>
                  <a:lnTo>
                    <a:pt x="0" y="1293300"/>
                  </a:lnTo>
                  <a:close/>
                </a:path>
              </a:pathLst>
            </a:custGeom>
            <a:solidFill>
              <a:srgbClr val="1067F4"/>
            </a:solidFill>
          </p:spPr>
        </p:sp>
      </p:grpSp>
      <p:grpSp>
        <p:nvGrpSpPr>
          <p:cNvPr id="2074863407" name="Group 4"/>
          <p:cNvGrpSpPr/>
          <p:nvPr/>
        </p:nvGrpSpPr>
        <p:grpSpPr bwMode="auto">
          <a:xfrm rot="0">
            <a:off x="8078224" y="8697942"/>
            <a:ext cx="2131553" cy="774671"/>
            <a:chOff x="0" y="0"/>
            <a:chExt cx="2842071" cy="1032894"/>
          </a:xfrm>
        </p:grpSpPr>
        <p:grpSp>
          <p:nvGrpSpPr>
            <p:cNvPr id="5" name="Group 5"/>
            <p:cNvGrpSpPr/>
            <p:nvPr/>
          </p:nvGrpSpPr>
          <p:grpSpPr bwMode="auto">
            <a:xfrm rot="0">
              <a:off x="0" y="0"/>
              <a:ext cx="2842071" cy="1032894"/>
              <a:chOff x="0" y="0"/>
              <a:chExt cx="1913890" cy="695566"/>
            </a:xfrm>
          </p:grpSpPr>
          <p:sp>
            <p:nvSpPr>
              <p:cNvPr id="6" name="Freeform 6"/>
              <p:cNvSpPr/>
              <p:nvPr/>
            </p:nvSpPr>
            <p:spPr bwMode="auto">
              <a:xfrm rot="0" flipH="0" flipV="0">
                <a:off x="31750" y="31750"/>
                <a:ext cx="1849148" cy="632066"/>
              </a:xfrm>
              <a:custGeom>
                <a:avLst/>
                <a:gdLst/>
                <a:ahLst/>
                <a:cxnLst/>
                <a:rect l="l" t="t" r="r" b="b"/>
                <a:pathLst>
                  <a:path w="1849148" h="632066" fill="norm" stroke="1" extrusionOk="0">
                    <a:moveTo>
                      <a:pt x="1757680" y="632066"/>
                    </a:moveTo>
                    <a:lnTo>
                      <a:pt x="92710" y="632066"/>
                    </a:lnTo>
                    <a:cubicBezTo>
                      <a:pt x="41910" y="632066"/>
                      <a:pt x="0" y="590155"/>
                      <a:pt x="0" y="539355"/>
                    </a:cubicBezTo>
                    <a:lnTo>
                      <a:pt x="0" y="92710"/>
                    </a:lnTo>
                    <a:cubicBezTo>
                      <a:pt x="0" y="41910"/>
                      <a:pt x="41910" y="0"/>
                      <a:pt x="92710" y="0"/>
                    </a:cubicBezTo>
                    <a:lnTo>
                      <a:pt x="1756410" y="0"/>
                    </a:lnTo>
                    <a:cubicBezTo>
                      <a:pt x="1807210" y="0"/>
                      <a:pt x="1849120" y="41910"/>
                      <a:pt x="1849120" y="92710"/>
                    </a:cubicBezTo>
                    <a:lnTo>
                      <a:pt x="1849120" y="538086"/>
                    </a:lnTo>
                    <a:cubicBezTo>
                      <a:pt x="1850390" y="590155"/>
                      <a:pt x="1808480" y="632066"/>
                      <a:pt x="1757680" y="632066"/>
                    </a:cubicBezTo>
                    <a:close/>
                  </a:path>
                </a:pathLst>
              </a:custGeom>
              <a:solidFill>
                <a:srgbClr val="F5F6F8"/>
              </a:solidFill>
            </p:spPr>
          </p:sp>
          <p:sp>
            <p:nvSpPr>
              <p:cNvPr id="7" name="Freeform 7"/>
              <p:cNvSpPr/>
              <p:nvPr/>
            </p:nvSpPr>
            <p:spPr bwMode="auto">
              <a:xfrm rot="0" flipH="0" flipV="0">
                <a:off x="0" y="0"/>
                <a:ext cx="1913890" cy="695566"/>
              </a:xfrm>
              <a:custGeom>
                <a:avLst/>
                <a:gdLst/>
                <a:ahLst/>
                <a:cxnLst/>
                <a:rect l="l" t="t" r="r" b="b"/>
                <a:pathLst>
                  <a:path w="1913890" h="695566" fill="norm" stroke="1" extrusionOk="0">
                    <a:moveTo>
                      <a:pt x="1789430" y="59690"/>
                    </a:moveTo>
                    <a:cubicBezTo>
                      <a:pt x="1824990" y="59690"/>
                      <a:pt x="1854200" y="88900"/>
                      <a:pt x="1854200" y="124460"/>
                    </a:cubicBezTo>
                    <a:lnTo>
                      <a:pt x="1854200" y="571106"/>
                    </a:lnTo>
                    <a:cubicBezTo>
                      <a:pt x="1854200" y="606666"/>
                      <a:pt x="1824990" y="635876"/>
                      <a:pt x="1789430" y="635876"/>
                    </a:cubicBezTo>
                    <a:lnTo>
                      <a:pt x="124460" y="635876"/>
                    </a:lnTo>
                    <a:cubicBezTo>
                      <a:pt x="88900" y="635876"/>
                      <a:pt x="59690" y="606666"/>
                      <a:pt x="59690" y="571106"/>
                    </a:cubicBezTo>
                    <a:lnTo>
                      <a:pt x="59690" y="124460"/>
                    </a:lnTo>
                    <a:cubicBezTo>
                      <a:pt x="59690" y="88900"/>
                      <a:pt x="88900" y="59690"/>
                      <a:pt x="124460" y="59690"/>
                    </a:cubicBezTo>
                    <a:lnTo>
                      <a:pt x="1789430" y="59690"/>
                    </a:lnTo>
                    <a:moveTo>
                      <a:pt x="1789430" y="0"/>
                    </a:moveTo>
                    <a:lnTo>
                      <a:pt x="124460" y="0"/>
                    </a:lnTo>
                    <a:cubicBezTo>
                      <a:pt x="55880" y="0"/>
                      <a:pt x="0" y="55880"/>
                      <a:pt x="0" y="124460"/>
                    </a:cubicBezTo>
                    <a:lnTo>
                      <a:pt x="0" y="571106"/>
                    </a:lnTo>
                    <a:cubicBezTo>
                      <a:pt x="0" y="639686"/>
                      <a:pt x="55880" y="695566"/>
                      <a:pt x="124460" y="695566"/>
                    </a:cubicBezTo>
                    <a:lnTo>
                      <a:pt x="1789430" y="695566"/>
                    </a:lnTo>
                    <a:cubicBezTo>
                      <a:pt x="1858010" y="695566"/>
                      <a:pt x="1913890" y="639686"/>
                      <a:pt x="1913890" y="571106"/>
                    </a:cubicBezTo>
                    <a:lnTo>
                      <a:pt x="1913890" y="124460"/>
                    </a:lnTo>
                    <a:cubicBezTo>
                      <a:pt x="1913890" y="55880"/>
                      <a:pt x="1858010" y="0"/>
                      <a:pt x="1789430" y="0"/>
                    </a:cubicBezTo>
                    <a:close/>
                  </a:path>
                </a:pathLst>
              </a:custGeom>
              <a:solidFill>
                <a:srgbClr val="1067F4"/>
              </a:solidFill>
            </p:spPr>
          </p:sp>
        </p:grpSp>
        <p:sp>
          <p:nvSpPr>
            <p:cNvPr id="8" name="TextBox 8"/>
            <p:cNvSpPr txBox="1"/>
            <p:nvPr/>
          </p:nvSpPr>
          <p:spPr bwMode="auto">
            <a:xfrm rot="0">
              <a:off x="81575" y="230062"/>
              <a:ext cx="2678920" cy="525145"/>
            </a:xfrm>
            <a:prstGeom prst="rect">
              <a:avLst/>
            </a:prstGeom>
            <a:grpFill/>
          </p:spPr>
          <p:txBody>
            <a:bodyPr lIns="0" tIns="0" rIns="0" bIns="0" rtlCol="0" anchor="t">
              <a:spAutoFit/>
            </a:bodyPr>
            <a:lstStyle/>
            <a:p>
              <a:pPr algn="ctr">
                <a:lnSpc>
                  <a:spcPts val="3359"/>
                </a:lnSpc>
                <a:defRPr/>
              </a:pPr>
              <a:r>
                <a:rPr lang="en-US" sz="2400">
                  <a:solidFill>
                    <a:srgbClr val="061313"/>
                  </a:solidFill>
                  <a:latin typeface="Source Sans Pro"/>
                  <a:ea typeface="Source Sans Pro"/>
                  <a:cs typeface="Source Sans Pro"/>
                </a:rPr>
                <a:t>The End</a:t>
              </a:r>
              <a:endParaRPr/>
            </a:p>
          </p:txBody>
        </p:sp>
      </p:grpSp>
      <p:sp>
        <p:nvSpPr>
          <p:cNvPr id="276830315" name="TextBox 9"/>
          <p:cNvSpPr txBox="1"/>
          <p:nvPr/>
        </p:nvSpPr>
        <p:spPr bwMode="auto">
          <a:xfrm rot="0">
            <a:off x="1028700" y="4000500"/>
            <a:ext cx="16230600" cy="1543050"/>
          </a:xfrm>
          <a:prstGeom prst="rect">
            <a:avLst/>
          </a:prstGeom>
        </p:spPr>
        <p:txBody>
          <a:bodyPr lIns="0" tIns="0" rIns="0" bIns="0" rtlCol="0" anchor="t">
            <a:spAutoFit/>
          </a:bodyPr>
          <a:lstStyle/>
          <a:p>
            <a:pPr algn="ctr">
              <a:lnSpc>
                <a:spcPts val="12598"/>
              </a:lnSpc>
              <a:defRPr/>
            </a:pPr>
            <a:r>
              <a:rPr lang="en-US" sz="9000" b="1">
                <a:solidFill>
                  <a:srgbClr val="061313"/>
                </a:solidFill>
                <a:latin typeface="Open Sauce Bold"/>
                <a:ea typeface="Open Sauce Bold"/>
                <a:cs typeface="Open Sauce Bold"/>
              </a:rPr>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 Book</dc:title>
  <dc:identifier>DAG6JSMadlU</dc:identifier>
  <cp:lastModifiedBy/>
  <cp:revision>2</cp:revision>
  <dcterms:created xsi:type="dcterms:W3CDTF">2006-08-16T00:00:00Z</dcterms:created>
  <dcterms:modified xsi:type="dcterms:W3CDTF">2025-12-02T12:30:53Z</dcterms:modified>
</cp:coreProperties>
</file>