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Source Sans Pro" charset="1" panose="020B0503030403020204"/>
      <p:regular r:id="rId19"/>
    </p:embeddedFont>
    <p:embeddedFont>
      <p:font typeface="Open Sauce Bold" charset="1" panose="00000800000000000000"/>
      <p:regular r:id="rId20"/>
    </p:embeddedFont>
    <p:embeddedFont>
      <p:font typeface="Open Sauce" charset="1" panose="00000500000000000000"/>
      <p:regular r:id="rId21"/>
    </p:embeddedFont>
    <p:embeddedFont>
      <p:font typeface="Rustic Printed" charset="1" panose="00000000000000000000"/>
      <p:regular r:id="rId22"/>
    </p:embeddedFont>
    <p:embeddedFont>
      <p:font typeface="Canva Sans Bold" charset="1" panose="020B0803030501040103"/>
      <p:regular r:id="rId23"/>
    </p:embeddedFont>
    <p:embeddedFont>
      <p:font typeface="Canva Sans" charset="1" panose="020B0503030501040103"/>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5F6F8"/>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
            <a:chOff x="0" y="0"/>
            <a:chExt cx="22991997" cy="1293300"/>
          </a:xfrm>
        </p:grpSpPr>
        <p:sp>
          <p:nvSpPr>
            <p:cNvPr name="Freeform 3" id="3"/>
            <p:cNvSpPr/>
            <p:nvPr/>
          </p:nvSpPr>
          <p:spPr>
            <a:xfrm flipH="false" flipV="false" rot="0">
              <a:off x="0" y="0"/>
              <a:ext cx="22991997" cy="1293300"/>
            </a:xfrm>
            <a:custGeom>
              <a:avLst/>
              <a:gdLst/>
              <a:ahLst/>
              <a:cxnLst/>
              <a:rect r="r" b="b" t="t" l="l"/>
              <a:pathLst>
                <a:path h="1293300" w="22991997">
                  <a:moveTo>
                    <a:pt x="0" y="0"/>
                  </a:moveTo>
                  <a:lnTo>
                    <a:pt x="22991997" y="0"/>
                  </a:lnTo>
                  <a:lnTo>
                    <a:pt x="22991997" y="1293300"/>
                  </a:lnTo>
                  <a:lnTo>
                    <a:pt x="0" y="1293300"/>
                  </a:lnTo>
                  <a:close/>
                </a:path>
              </a:pathLst>
            </a:custGeom>
            <a:solidFill>
              <a:srgbClr val="1067F4"/>
            </a:solidFill>
          </p:spPr>
        </p:sp>
      </p:grpSp>
      <p:grpSp>
        <p:nvGrpSpPr>
          <p:cNvPr name="Group 4" id="4"/>
          <p:cNvGrpSpPr/>
          <p:nvPr/>
        </p:nvGrpSpPr>
        <p:grpSpPr>
          <a:xfrm rot="0">
            <a:off x="8078224" y="8697942"/>
            <a:ext cx="2131553" cy="774671"/>
            <a:chOff x="0" y="0"/>
            <a:chExt cx="2842071" cy="1032894"/>
          </a:xfrm>
        </p:grpSpPr>
        <p:grpSp>
          <p:nvGrpSpPr>
            <p:cNvPr name="Group 5" id="5"/>
            <p:cNvGrpSpPr/>
            <p:nvPr/>
          </p:nvGrpSpPr>
          <p:grpSpPr>
            <a:xfrm rot="0">
              <a:off x="0" y="0"/>
              <a:ext cx="2842071" cy="1032894"/>
              <a:chOff x="0" y="0"/>
              <a:chExt cx="1913890" cy="695566"/>
            </a:xfrm>
          </p:grpSpPr>
          <p:sp>
            <p:nvSpPr>
              <p:cNvPr name="Freeform 6" id="6"/>
              <p:cNvSpPr/>
              <p:nvPr/>
            </p:nvSpPr>
            <p:spPr>
              <a:xfrm flipH="false" flipV="false" rot="0">
                <a:off x="31750" y="31750"/>
                <a:ext cx="1849148" cy="632066"/>
              </a:xfrm>
              <a:custGeom>
                <a:avLst/>
                <a:gdLst/>
                <a:ahLst/>
                <a:cxnLst/>
                <a:rect r="r" b="b" t="t" l="l"/>
                <a:pathLst>
                  <a:path h="632066" w="1849148">
                    <a:moveTo>
                      <a:pt x="1757680" y="632066"/>
                    </a:moveTo>
                    <a:lnTo>
                      <a:pt x="92710" y="632066"/>
                    </a:lnTo>
                    <a:cubicBezTo>
                      <a:pt x="41910" y="632066"/>
                      <a:pt x="0" y="590155"/>
                      <a:pt x="0" y="539355"/>
                    </a:cubicBezTo>
                    <a:lnTo>
                      <a:pt x="0" y="92710"/>
                    </a:lnTo>
                    <a:cubicBezTo>
                      <a:pt x="0" y="41910"/>
                      <a:pt x="41910" y="0"/>
                      <a:pt x="92710" y="0"/>
                    </a:cubicBezTo>
                    <a:lnTo>
                      <a:pt x="1756410" y="0"/>
                    </a:lnTo>
                    <a:cubicBezTo>
                      <a:pt x="1807210" y="0"/>
                      <a:pt x="1849120" y="41910"/>
                      <a:pt x="1849120" y="92710"/>
                    </a:cubicBezTo>
                    <a:lnTo>
                      <a:pt x="1849120" y="538086"/>
                    </a:lnTo>
                    <a:cubicBezTo>
                      <a:pt x="1850390" y="590155"/>
                      <a:pt x="1808480" y="632066"/>
                      <a:pt x="1757680" y="632066"/>
                    </a:cubicBezTo>
                    <a:close/>
                  </a:path>
                </a:pathLst>
              </a:custGeom>
              <a:solidFill>
                <a:srgbClr val="1067F4"/>
              </a:solidFill>
            </p:spPr>
          </p:sp>
          <p:sp>
            <p:nvSpPr>
              <p:cNvPr name="Freeform 7" id="7"/>
              <p:cNvSpPr/>
              <p:nvPr/>
            </p:nvSpPr>
            <p:spPr>
              <a:xfrm flipH="false" flipV="false" rot="0">
                <a:off x="0" y="0"/>
                <a:ext cx="1913890" cy="695566"/>
              </a:xfrm>
              <a:custGeom>
                <a:avLst/>
                <a:gdLst/>
                <a:ahLst/>
                <a:cxnLst/>
                <a:rect r="r" b="b" t="t" l="l"/>
                <a:pathLst>
                  <a:path h="695566" w="1913890">
                    <a:moveTo>
                      <a:pt x="1789430" y="59690"/>
                    </a:moveTo>
                    <a:cubicBezTo>
                      <a:pt x="1824990" y="59690"/>
                      <a:pt x="1854200" y="88900"/>
                      <a:pt x="1854200" y="124460"/>
                    </a:cubicBezTo>
                    <a:lnTo>
                      <a:pt x="1854200" y="571106"/>
                    </a:lnTo>
                    <a:cubicBezTo>
                      <a:pt x="1854200" y="606666"/>
                      <a:pt x="1824990" y="635876"/>
                      <a:pt x="1789430" y="635876"/>
                    </a:cubicBezTo>
                    <a:lnTo>
                      <a:pt x="124460" y="635876"/>
                    </a:lnTo>
                    <a:cubicBezTo>
                      <a:pt x="88900" y="635876"/>
                      <a:pt x="59690" y="606666"/>
                      <a:pt x="59690" y="571106"/>
                    </a:cubicBezTo>
                    <a:lnTo>
                      <a:pt x="59690" y="124460"/>
                    </a:lnTo>
                    <a:cubicBezTo>
                      <a:pt x="59690" y="88900"/>
                      <a:pt x="88900" y="59690"/>
                      <a:pt x="124460" y="59690"/>
                    </a:cubicBezTo>
                    <a:lnTo>
                      <a:pt x="1789430" y="59690"/>
                    </a:lnTo>
                    <a:moveTo>
                      <a:pt x="1789430" y="0"/>
                    </a:moveTo>
                    <a:lnTo>
                      <a:pt x="124460" y="0"/>
                    </a:lnTo>
                    <a:cubicBezTo>
                      <a:pt x="55880" y="0"/>
                      <a:pt x="0" y="55880"/>
                      <a:pt x="0" y="124460"/>
                    </a:cubicBezTo>
                    <a:lnTo>
                      <a:pt x="0" y="571106"/>
                    </a:lnTo>
                    <a:cubicBezTo>
                      <a:pt x="0" y="639686"/>
                      <a:pt x="55880" y="695566"/>
                      <a:pt x="124460" y="695566"/>
                    </a:cubicBezTo>
                    <a:lnTo>
                      <a:pt x="1789430" y="695566"/>
                    </a:lnTo>
                    <a:cubicBezTo>
                      <a:pt x="1858010" y="695566"/>
                      <a:pt x="1913890" y="639686"/>
                      <a:pt x="1913890" y="571106"/>
                    </a:cubicBezTo>
                    <a:lnTo>
                      <a:pt x="1913890" y="124460"/>
                    </a:lnTo>
                    <a:cubicBezTo>
                      <a:pt x="1913890" y="55880"/>
                      <a:pt x="1858010" y="0"/>
                      <a:pt x="1789430" y="0"/>
                    </a:cubicBezTo>
                    <a:close/>
                  </a:path>
                </a:pathLst>
              </a:custGeom>
              <a:solidFill>
                <a:srgbClr val="1067F4"/>
              </a:solidFill>
            </p:spPr>
          </p:sp>
        </p:grpSp>
        <p:sp>
          <p:nvSpPr>
            <p:cNvPr name="TextBox 8" id="8"/>
            <p:cNvSpPr txBox="true"/>
            <p:nvPr/>
          </p:nvSpPr>
          <p:spPr>
            <a:xfrm rot="0">
              <a:off x="81575" y="230062"/>
              <a:ext cx="2678920" cy="525145"/>
            </a:xfrm>
            <a:prstGeom prst="rect">
              <a:avLst/>
            </a:prstGeom>
          </p:spPr>
          <p:txBody>
            <a:bodyPr anchor="t" rtlCol="false" tIns="0" lIns="0" bIns="0" rIns="0">
              <a:spAutoFit/>
            </a:bodyPr>
            <a:lstStyle/>
            <a:p>
              <a:pPr algn="ctr">
                <a:lnSpc>
                  <a:spcPts val="3359"/>
                </a:lnSpc>
              </a:pPr>
              <a:r>
                <a:rPr lang="en-US" sz="2400">
                  <a:solidFill>
                    <a:srgbClr val="FAFAFB"/>
                  </a:solidFill>
                  <a:latin typeface="Source Sans Pro"/>
                  <a:ea typeface="Source Sans Pro"/>
                  <a:cs typeface="Source Sans Pro"/>
                  <a:sym typeface="Source Sans Pro"/>
                </a:rPr>
                <a:t>Book Now </a:t>
              </a:r>
            </a:p>
          </p:txBody>
        </p:sp>
      </p:grpSp>
      <p:grpSp>
        <p:nvGrpSpPr>
          <p:cNvPr name="Group 9" id="9"/>
          <p:cNvGrpSpPr/>
          <p:nvPr/>
        </p:nvGrpSpPr>
        <p:grpSpPr>
          <a:xfrm rot="0">
            <a:off x="7600950" y="1433513"/>
            <a:ext cx="3086100" cy="3086100"/>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solidFill>
              <a:srgbClr val="000000"/>
            </a:solidFill>
          </p:spPr>
        </p:sp>
        <p:sp>
          <p:nvSpPr>
            <p:cNvPr name="TextBox 11" id="11"/>
            <p:cNvSpPr txBox="true"/>
            <p:nvPr/>
          </p:nvSpPr>
          <p:spPr>
            <a:xfrm>
              <a:off x="63500" y="15875"/>
              <a:ext cx="685800" cy="733425"/>
            </a:xfrm>
            <a:prstGeom prst="rect">
              <a:avLst/>
            </a:prstGeom>
          </p:spPr>
          <p:txBody>
            <a:bodyPr anchor="ctr" rtlCol="false" tIns="50800" lIns="50800" bIns="50800" rIns="50800"/>
            <a:lstStyle/>
            <a:p>
              <a:pPr algn="ctr">
                <a:lnSpc>
                  <a:spcPts val="3359"/>
                </a:lnSpc>
              </a:pPr>
            </a:p>
          </p:txBody>
        </p:sp>
      </p:grpSp>
      <p:grpSp>
        <p:nvGrpSpPr>
          <p:cNvPr name="Group 12" id="12"/>
          <p:cNvGrpSpPr/>
          <p:nvPr/>
        </p:nvGrpSpPr>
        <p:grpSpPr>
          <a:xfrm rot="0">
            <a:off x="7693367" y="1525930"/>
            <a:ext cx="2901266" cy="2901266"/>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solidFill>
              <a:srgbClr val="FAFAFB"/>
            </a:solidFill>
          </p:spPr>
        </p:sp>
        <p:sp>
          <p:nvSpPr>
            <p:cNvPr name="TextBox 14" id="14"/>
            <p:cNvSpPr txBox="true"/>
            <p:nvPr/>
          </p:nvSpPr>
          <p:spPr>
            <a:xfrm>
              <a:off x="63500" y="15875"/>
              <a:ext cx="685800" cy="733425"/>
            </a:xfrm>
            <a:prstGeom prst="rect">
              <a:avLst/>
            </a:prstGeom>
          </p:spPr>
          <p:txBody>
            <a:bodyPr anchor="ctr" rtlCol="false" tIns="50800" lIns="50800" bIns="50800" rIns="50800"/>
            <a:lstStyle/>
            <a:p>
              <a:pPr algn="ctr">
                <a:lnSpc>
                  <a:spcPts val="3359"/>
                </a:lnSpc>
              </a:pPr>
            </a:p>
          </p:txBody>
        </p:sp>
      </p:grpSp>
      <p:sp>
        <p:nvSpPr>
          <p:cNvPr name="Freeform 15" id="15"/>
          <p:cNvSpPr/>
          <p:nvPr/>
        </p:nvSpPr>
        <p:spPr>
          <a:xfrm flipH="false" flipV="false" rot="0">
            <a:off x="7970619" y="1803181"/>
            <a:ext cx="2346762" cy="2346762"/>
          </a:xfrm>
          <a:custGeom>
            <a:avLst/>
            <a:gdLst/>
            <a:ahLst/>
            <a:cxnLst/>
            <a:rect r="r" b="b" t="t" l="l"/>
            <a:pathLst>
              <a:path h="2346762" w="2346762">
                <a:moveTo>
                  <a:pt x="0" y="0"/>
                </a:moveTo>
                <a:lnTo>
                  <a:pt x="2346762" y="0"/>
                </a:lnTo>
                <a:lnTo>
                  <a:pt x="2346762" y="2346763"/>
                </a:lnTo>
                <a:lnTo>
                  <a:pt x="0" y="2346763"/>
                </a:lnTo>
                <a:lnTo>
                  <a:pt x="0" y="0"/>
                </a:lnTo>
                <a:close/>
              </a:path>
            </a:pathLst>
          </a:custGeom>
          <a:blipFill>
            <a:blip r:embed="rId2"/>
            <a:stretch>
              <a:fillRect l="0" t="0" r="0" b="0"/>
            </a:stretch>
          </a:blipFill>
        </p:spPr>
      </p:sp>
      <p:sp>
        <p:nvSpPr>
          <p:cNvPr name="TextBox 16" id="16"/>
          <p:cNvSpPr txBox="true"/>
          <p:nvPr/>
        </p:nvSpPr>
        <p:spPr>
          <a:xfrm rot="0">
            <a:off x="1028700" y="4752975"/>
            <a:ext cx="16230600" cy="1543050"/>
          </a:xfrm>
          <a:prstGeom prst="rect">
            <a:avLst/>
          </a:prstGeom>
        </p:spPr>
        <p:txBody>
          <a:bodyPr anchor="t" rtlCol="false" tIns="0" lIns="0" bIns="0" rIns="0">
            <a:spAutoFit/>
          </a:bodyPr>
          <a:lstStyle/>
          <a:p>
            <a:pPr algn="ctr">
              <a:lnSpc>
                <a:spcPts val="12599"/>
              </a:lnSpc>
            </a:pPr>
            <a:r>
              <a:rPr lang="en-US" b="true" sz="9000">
                <a:solidFill>
                  <a:srgbClr val="061313"/>
                </a:solidFill>
                <a:latin typeface="Open Sauce Bold"/>
                <a:ea typeface="Open Sauce Bold"/>
                <a:cs typeface="Open Sauce Bold"/>
                <a:sym typeface="Open Sauce Bold"/>
              </a:rPr>
              <a:t>STAYBOOK</a:t>
            </a:r>
          </a:p>
        </p:txBody>
      </p:sp>
      <p:sp>
        <p:nvSpPr>
          <p:cNvPr name="TextBox 17" id="17"/>
          <p:cNvSpPr txBox="true"/>
          <p:nvPr/>
        </p:nvSpPr>
        <p:spPr>
          <a:xfrm rot="0">
            <a:off x="1760764" y="6328623"/>
            <a:ext cx="14766472" cy="613410"/>
          </a:xfrm>
          <a:prstGeom prst="rect">
            <a:avLst/>
          </a:prstGeom>
        </p:spPr>
        <p:txBody>
          <a:bodyPr anchor="t" rtlCol="false" tIns="0" lIns="0" bIns="0" rIns="0">
            <a:spAutoFit/>
          </a:bodyPr>
          <a:lstStyle/>
          <a:p>
            <a:pPr algn="ctr">
              <a:lnSpc>
                <a:spcPts val="5040"/>
              </a:lnSpc>
            </a:pPr>
            <a:r>
              <a:rPr lang="en-US" sz="3600">
                <a:solidFill>
                  <a:srgbClr val="545454"/>
                </a:solidFill>
                <a:latin typeface="Open Sauce"/>
                <a:ea typeface="Open Sauce"/>
                <a:cs typeface="Open Sauce"/>
                <a:sym typeface="Open Sauce"/>
              </a:rPr>
              <a:t>Hotel Management System</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5F6F8"/>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
            <a:chOff x="0" y="0"/>
            <a:chExt cx="22991997" cy="1293300"/>
          </a:xfrm>
        </p:grpSpPr>
        <p:sp>
          <p:nvSpPr>
            <p:cNvPr name="Freeform 3" id="3"/>
            <p:cNvSpPr/>
            <p:nvPr/>
          </p:nvSpPr>
          <p:spPr>
            <a:xfrm flipH="false" flipV="false" rot="0">
              <a:off x="0" y="0"/>
              <a:ext cx="22991997" cy="1293300"/>
            </a:xfrm>
            <a:custGeom>
              <a:avLst/>
              <a:gdLst/>
              <a:ahLst/>
              <a:cxnLst/>
              <a:rect r="r" b="b" t="t" l="l"/>
              <a:pathLst>
                <a:path h="1293300" w="22991997">
                  <a:moveTo>
                    <a:pt x="0" y="0"/>
                  </a:moveTo>
                  <a:lnTo>
                    <a:pt x="22991997" y="0"/>
                  </a:lnTo>
                  <a:lnTo>
                    <a:pt x="22991997" y="1293300"/>
                  </a:lnTo>
                  <a:lnTo>
                    <a:pt x="0" y="1293300"/>
                  </a:lnTo>
                  <a:close/>
                </a:path>
              </a:pathLst>
            </a:custGeom>
            <a:solidFill>
              <a:srgbClr val="1067F4"/>
            </a:solidFill>
          </p:spPr>
        </p:sp>
      </p:grpSp>
      <p:sp>
        <p:nvSpPr>
          <p:cNvPr name="TextBox 4" id="4"/>
          <p:cNvSpPr txBox="true"/>
          <p:nvPr/>
        </p:nvSpPr>
        <p:spPr>
          <a:xfrm rot="0">
            <a:off x="380608" y="3175"/>
            <a:ext cx="6848808" cy="862330"/>
          </a:xfrm>
          <a:prstGeom prst="rect">
            <a:avLst/>
          </a:prstGeom>
        </p:spPr>
        <p:txBody>
          <a:bodyPr anchor="t" rtlCol="false" tIns="0" lIns="0" bIns="0" rIns="0">
            <a:spAutoFit/>
          </a:bodyPr>
          <a:lstStyle/>
          <a:p>
            <a:pPr algn="l">
              <a:lnSpc>
                <a:spcPts val="6019"/>
              </a:lnSpc>
            </a:pPr>
            <a:r>
              <a:rPr lang="en-US" sz="4299">
                <a:solidFill>
                  <a:srgbClr val="FFFFFF"/>
                </a:solidFill>
                <a:latin typeface="Rustic Printed"/>
                <a:ea typeface="Rustic Printed"/>
                <a:cs typeface="Rustic Printed"/>
                <a:sym typeface="Rustic Printed"/>
              </a:rPr>
              <a:t>Project Overview</a:t>
            </a:r>
          </a:p>
        </p:txBody>
      </p:sp>
      <p:sp>
        <p:nvSpPr>
          <p:cNvPr name="TextBox 5" id="5"/>
          <p:cNvSpPr txBox="true"/>
          <p:nvPr/>
        </p:nvSpPr>
        <p:spPr>
          <a:xfrm rot="0">
            <a:off x="725714" y="4285107"/>
            <a:ext cx="1981200" cy="448818"/>
          </a:xfrm>
          <a:prstGeom prst="rect">
            <a:avLst/>
          </a:prstGeom>
        </p:spPr>
        <p:txBody>
          <a:bodyPr anchor="t" rtlCol="false" tIns="0" lIns="0" bIns="0" rIns="0">
            <a:spAutoFit/>
          </a:bodyPr>
          <a:lstStyle/>
          <a:p>
            <a:pPr algn="ctr">
              <a:lnSpc>
                <a:spcPts val="3611"/>
              </a:lnSpc>
            </a:pPr>
            <a:r>
              <a:rPr lang="en-US" sz="2579" b="true">
                <a:solidFill>
                  <a:srgbClr val="000000"/>
                </a:solidFill>
                <a:latin typeface="Canva Sans Bold"/>
                <a:ea typeface="Canva Sans Bold"/>
                <a:cs typeface="Canva Sans Bold"/>
                <a:sym typeface="Canva Sans Bold"/>
              </a:rPr>
              <a:t>Target Users</a:t>
            </a:r>
          </a:p>
        </p:txBody>
      </p:sp>
      <p:sp>
        <p:nvSpPr>
          <p:cNvPr name="TextBox 6" id="6"/>
          <p:cNvSpPr txBox="true"/>
          <p:nvPr/>
        </p:nvSpPr>
        <p:spPr>
          <a:xfrm rot="0">
            <a:off x="725714" y="1276096"/>
            <a:ext cx="1531441" cy="448818"/>
          </a:xfrm>
          <a:prstGeom prst="rect">
            <a:avLst/>
          </a:prstGeom>
        </p:spPr>
        <p:txBody>
          <a:bodyPr anchor="t" rtlCol="false" tIns="0" lIns="0" bIns="0" rIns="0">
            <a:spAutoFit/>
          </a:bodyPr>
          <a:lstStyle/>
          <a:p>
            <a:pPr algn="ctr">
              <a:lnSpc>
                <a:spcPts val="3611"/>
              </a:lnSpc>
            </a:pPr>
            <a:r>
              <a:rPr lang="en-US" sz="2579" b="true">
                <a:solidFill>
                  <a:srgbClr val="000000"/>
                </a:solidFill>
                <a:latin typeface="Canva Sans Bold"/>
                <a:ea typeface="Canva Sans Bold"/>
                <a:cs typeface="Canva Sans Bold"/>
                <a:sym typeface="Canva Sans Bold"/>
              </a:rPr>
              <a:t>Summary</a:t>
            </a:r>
          </a:p>
        </p:txBody>
      </p:sp>
      <p:sp>
        <p:nvSpPr>
          <p:cNvPr name="TextBox 7" id="7"/>
          <p:cNvSpPr txBox="true"/>
          <p:nvPr/>
        </p:nvSpPr>
        <p:spPr>
          <a:xfrm rot="0">
            <a:off x="725714" y="4886325"/>
            <a:ext cx="10233124" cy="1363218"/>
          </a:xfrm>
          <a:prstGeom prst="rect">
            <a:avLst/>
          </a:prstGeom>
        </p:spPr>
        <p:txBody>
          <a:bodyPr anchor="t" rtlCol="false" tIns="0" lIns="0" bIns="0" rIns="0">
            <a:spAutoFit/>
          </a:bodyPr>
          <a:lstStyle/>
          <a:p>
            <a:pPr algn="l" marL="557022" indent="-278511" lvl="1">
              <a:lnSpc>
                <a:spcPts val="3611"/>
              </a:lnSpc>
              <a:buFont typeface="Arial"/>
              <a:buChar char="•"/>
            </a:pPr>
            <a:r>
              <a:rPr lang="en-US" sz="2579">
                <a:solidFill>
                  <a:srgbClr val="000000"/>
                </a:solidFill>
                <a:latin typeface="Canva Sans"/>
                <a:ea typeface="Canva Sans"/>
                <a:cs typeface="Canva Sans"/>
                <a:sym typeface="Canva Sans"/>
              </a:rPr>
              <a:t>Hotel Administrator and Managers </a:t>
            </a:r>
          </a:p>
          <a:p>
            <a:pPr algn="l" marL="557022" indent="-278511" lvl="1">
              <a:lnSpc>
                <a:spcPts val="3611"/>
              </a:lnSpc>
              <a:buFont typeface="Arial"/>
              <a:buChar char="•"/>
            </a:pPr>
            <a:r>
              <a:rPr lang="en-US" sz="2579">
                <a:solidFill>
                  <a:srgbClr val="000000"/>
                </a:solidFill>
                <a:latin typeface="Canva Sans"/>
                <a:ea typeface="Canva Sans"/>
                <a:cs typeface="Canva Sans"/>
                <a:sym typeface="Canva Sans"/>
              </a:rPr>
              <a:t>Branch Managers for individual hotel locations</a:t>
            </a:r>
          </a:p>
          <a:p>
            <a:pPr algn="l" marL="557022" indent="-278511" lvl="1">
              <a:lnSpc>
                <a:spcPts val="3611"/>
              </a:lnSpc>
              <a:buFont typeface="Arial"/>
              <a:buChar char="•"/>
            </a:pPr>
            <a:r>
              <a:rPr lang="en-US" sz="2579">
                <a:solidFill>
                  <a:srgbClr val="000000"/>
                </a:solidFill>
                <a:latin typeface="Canva Sans"/>
                <a:ea typeface="Canva Sans"/>
                <a:cs typeface="Canva Sans"/>
                <a:sym typeface="Canva Sans"/>
              </a:rPr>
              <a:t>Front Desk Staff handling reservations and room assignments</a:t>
            </a:r>
          </a:p>
        </p:txBody>
      </p:sp>
      <p:sp>
        <p:nvSpPr>
          <p:cNvPr name="TextBox 8" id="8"/>
          <p:cNvSpPr txBox="true"/>
          <p:nvPr/>
        </p:nvSpPr>
        <p:spPr>
          <a:xfrm rot="0">
            <a:off x="725714" y="6801993"/>
            <a:ext cx="7840016" cy="448818"/>
          </a:xfrm>
          <a:prstGeom prst="rect">
            <a:avLst/>
          </a:prstGeom>
        </p:spPr>
        <p:txBody>
          <a:bodyPr anchor="t" rtlCol="false" tIns="0" lIns="0" bIns="0" rIns="0">
            <a:spAutoFit/>
          </a:bodyPr>
          <a:lstStyle/>
          <a:p>
            <a:pPr algn="l">
              <a:lnSpc>
                <a:spcPts val="3611"/>
              </a:lnSpc>
            </a:pPr>
            <a:r>
              <a:rPr lang="en-US" sz="2579" b="true">
                <a:solidFill>
                  <a:srgbClr val="000000"/>
                </a:solidFill>
                <a:latin typeface="Canva Sans Bold"/>
                <a:ea typeface="Canva Sans Bold"/>
                <a:cs typeface="Canva Sans Bold"/>
                <a:sym typeface="Canva Sans Bold"/>
              </a:rPr>
              <a:t>Context of where or how it will be used</a:t>
            </a:r>
          </a:p>
        </p:txBody>
      </p:sp>
      <p:sp>
        <p:nvSpPr>
          <p:cNvPr name="TextBox 9" id="9"/>
          <p:cNvSpPr txBox="true"/>
          <p:nvPr/>
        </p:nvSpPr>
        <p:spPr>
          <a:xfrm rot="0">
            <a:off x="725714" y="7507986"/>
            <a:ext cx="16453223" cy="1380962"/>
          </a:xfrm>
          <a:prstGeom prst="rect">
            <a:avLst/>
          </a:prstGeom>
        </p:spPr>
        <p:txBody>
          <a:bodyPr anchor="t" rtlCol="false" tIns="0" lIns="0" bIns="0" rIns="0">
            <a:spAutoFit/>
          </a:bodyPr>
          <a:lstStyle/>
          <a:p>
            <a:pPr algn="just">
              <a:lnSpc>
                <a:spcPts val="3683"/>
              </a:lnSpc>
            </a:pPr>
            <a:r>
              <a:rPr lang="en-US" sz="2631">
                <a:solidFill>
                  <a:srgbClr val="000000"/>
                </a:solidFill>
                <a:latin typeface="Canva Sans"/>
                <a:ea typeface="Canva Sans"/>
                <a:cs typeface="Canva Sans"/>
                <a:sym typeface="Canva Sans"/>
              </a:rPr>
              <a:t>      The system will be used in hotel reception areas, admin offices, and branch manager workstations. It  supports checking room availability, creating and updating reservations, monitoring branch activity, and assisting customers with </a:t>
            </a:r>
            <a:r>
              <a:rPr lang="en-US" sz="2631">
                <a:solidFill>
                  <a:srgbClr val="000000"/>
                </a:solidFill>
                <a:latin typeface="Canva Sans"/>
                <a:ea typeface="Canva Sans"/>
                <a:cs typeface="Canva Sans"/>
                <a:sym typeface="Canva Sans"/>
              </a:rPr>
              <a:t>real-time information about available rooms. </a:t>
            </a:r>
          </a:p>
        </p:txBody>
      </p:sp>
      <p:sp>
        <p:nvSpPr>
          <p:cNvPr name="TextBox 10" id="10"/>
          <p:cNvSpPr txBox="true"/>
          <p:nvPr/>
        </p:nvSpPr>
        <p:spPr>
          <a:xfrm rot="0">
            <a:off x="725714" y="1874139"/>
            <a:ext cx="16292497" cy="1820418"/>
          </a:xfrm>
          <a:prstGeom prst="rect">
            <a:avLst/>
          </a:prstGeom>
        </p:spPr>
        <p:txBody>
          <a:bodyPr anchor="t" rtlCol="false" tIns="0" lIns="0" bIns="0" rIns="0">
            <a:spAutoFit/>
          </a:bodyPr>
          <a:lstStyle/>
          <a:p>
            <a:pPr algn="just">
              <a:lnSpc>
                <a:spcPts val="3611"/>
              </a:lnSpc>
            </a:pPr>
            <a:r>
              <a:rPr lang="en-US" sz="2579">
                <a:solidFill>
                  <a:srgbClr val="000000"/>
                </a:solidFill>
                <a:latin typeface="Canva Sans"/>
                <a:ea typeface="Canva Sans"/>
                <a:cs typeface="Canva Sans"/>
                <a:sym typeface="Canva Sans"/>
              </a:rPr>
              <a:t>     This project is a </a:t>
            </a:r>
            <a:r>
              <a:rPr lang="en-US" sz="2579">
                <a:solidFill>
                  <a:srgbClr val="000000"/>
                </a:solidFill>
                <a:latin typeface="Canva Sans"/>
                <a:ea typeface="Canva Sans"/>
                <a:cs typeface="Canva Sans"/>
                <a:sym typeface="Canva Sans"/>
              </a:rPr>
              <a:t>desktop application designed to help hotels manage operations across multiple branches. Administrators can oversee all branches, while branch managers handle daily tasks such as, managing room availability, reservations, pricing, maintenance needs, and booking records. The system also enables quick searching and filtering of information.</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F5F6F8"/>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
            <a:chOff x="0" y="0"/>
            <a:chExt cx="22991997" cy="1293300"/>
          </a:xfrm>
        </p:grpSpPr>
        <p:sp>
          <p:nvSpPr>
            <p:cNvPr name="Freeform 3" id="3"/>
            <p:cNvSpPr/>
            <p:nvPr/>
          </p:nvSpPr>
          <p:spPr>
            <a:xfrm flipH="false" flipV="false" rot="0">
              <a:off x="0" y="0"/>
              <a:ext cx="22991997" cy="1293300"/>
            </a:xfrm>
            <a:custGeom>
              <a:avLst/>
              <a:gdLst/>
              <a:ahLst/>
              <a:cxnLst/>
              <a:rect r="r" b="b" t="t" l="l"/>
              <a:pathLst>
                <a:path h="1293300" w="22991997">
                  <a:moveTo>
                    <a:pt x="0" y="0"/>
                  </a:moveTo>
                  <a:lnTo>
                    <a:pt x="22991997" y="0"/>
                  </a:lnTo>
                  <a:lnTo>
                    <a:pt x="22991997" y="1293300"/>
                  </a:lnTo>
                  <a:lnTo>
                    <a:pt x="0" y="1293300"/>
                  </a:lnTo>
                  <a:close/>
                </a:path>
              </a:pathLst>
            </a:custGeom>
            <a:solidFill>
              <a:srgbClr val="1067F4"/>
            </a:solidFill>
          </p:spPr>
        </p:sp>
      </p:grpSp>
      <p:sp>
        <p:nvSpPr>
          <p:cNvPr name="TextBox 4" id="4"/>
          <p:cNvSpPr txBox="true"/>
          <p:nvPr/>
        </p:nvSpPr>
        <p:spPr>
          <a:xfrm rot="0">
            <a:off x="380608" y="3175"/>
            <a:ext cx="6848808" cy="862330"/>
          </a:xfrm>
          <a:prstGeom prst="rect">
            <a:avLst/>
          </a:prstGeom>
        </p:spPr>
        <p:txBody>
          <a:bodyPr anchor="t" rtlCol="false" tIns="0" lIns="0" bIns="0" rIns="0">
            <a:spAutoFit/>
          </a:bodyPr>
          <a:lstStyle/>
          <a:p>
            <a:pPr algn="l">
              <a:lnSpc>
                <a:spcPts val="6019"/>
              </a:lnSpc>
            </a:pPr>
            <a:r>
              <a:rPr lang="en-US" sz="4299">
                <a:solidFill>
                  <a:srgbClr val="FFFFFF"/>
                </a:solidFill>
                <a:latin typeface="Rustic Printed"/>
                <a:ea typeface="Rustic Printed"/>
                <a:cs typeface="Rustic Printed"/>
                <a:sym typeface="Rustic Printed"/>
              </a:rPr>
              <a:t>System Overview</a:t>
            </a:r>
          </a:p>
        </p:txBody>
      </p:sp>
      <p:sp>
        <p:nvSpPr>
          <p:cNvPr name="TextBox 5" id="5"/>
          <p:cNvSpPr txBox="true"/>
          <p:nvPr/>
        </p:nvSpPr>
        <p:spPr>
          <a:xfrm rot="0">
            <a:off x="725337" y="1377091"/>
            <a:ext cx="1692920" cy="448818"/>
          </a:xfrm>
          <a:prstGeom prst="rect">
            <a:avLst/>
          </a:prstGeom>
        </p:spPr>
        <p:txBody>
          <a:bodyPr anchor="t" rtlCol="false" tIns="0" lIns="0" bIns="0" rIns="0">
            <a:spAutoFit/>
          </a:bodyPr>
          <a:lstStyle/>
          <a:p>
            <a:pPr algn="ctr">
              <a:lnSpc>
                <a:spcPts val="3611"/>
              </a:lnSpc>
            </a:pPr>
            <a:r>
              <a:rPr lang="en-US" sz="2579" b="true">
                <a:solidFill>
                  <a:srgbClr val="000000"/>
                </a:solidFill>
                <a:latin typeface="Canva Sans Bold"/>
                <a:ea typeface="Canva Sans Bold"/>
                <a:cs typeface="Canva Sans Bold"/>
                <a:sym typeface="Canva Sans Bold"/>
              </a:rPr>
              <a:t>User Roles</a:t>
            </a:r>
          </a:p>
        </p:txBody>
      </p:sp>
      <p:sp>
        <p:nvSpPr>
          <p:cNvPr name="TextBox 6" id="6"/>
          <p:cNvSpPr txBox="true"/>
          <p:nvPr/>
        </p:nvSpPr>
        <p:spPr>
          <a:xfrm rot="0">
            <a:off x="1028700" y="1985987"/>
            <a:ext cx="15564439" cy="7306818"/>
          </a:xfrm>
          <a:prstGeom prst="rect">
            <a:avLst/>
          </a:prstGeom>
        </p:spPr>
        <p:txBody>
          <a:bodyPr anchor="t" rtlCol="false" tIns="0" lIns="0" bIns="0" rIns="0">
            <a:spAutoFit/>
          </a:bodyPr>
          <a:lstStyle/>
          <a:p>
            <a:pPr algn="just">
              <a:lnSpc>
                <a:spcPts val="3611"/>
              </a:lnSpc>
            </a:pPr>
            <a:r>
              <a:rPr lang="en-US" sz="2579">
                <a:solidFill>
                  <a:srgbClr val="000000"/>
                </a:solidFill>
                <a:latin typeface="Canva Sans"/>
                <a:ea typeface="Canva Sans"/>
                <a:cs typeface="Canva Sans"/>
                <a:sym typeface="Canva Sans"/>
              </a:rPr>
              <a:t>Administrator </a:t>
            </a:r>
          </a:p>
          <a:p>
            <a:pPr algn="just" marL="557022" indent="-278511" lvl="1">
              <a:lnSpc>
                <a:spcPts val="3611"/>
              </a:lnSpc>
              <a:buFont typeface="Arial"/>
              <a:buChar char="•"/>
            </a:pPr>
            <a:r>
              <a:rPr lang="en-US" sz="2579">
                <a:solidFill>
                  <a:srgbClr val="000000"/>
                </a:solidFill>
                <a:latin typeface="Canva Sans"/>
                <a:ea typeface="Canva Sans"/>
                <a:cs typeface="Canva Sans"/>
                <a:sym typeface="Canva Sans"/>
              </a:rPr>
              <a:t>Create and manage branch accounts</a:t>
            </a:r>
          </a:p>
          <a:p>
            <a:pPr algn="just" marL="557022" indent="-278511" lvl="1">
              <a:lnSpc>
                <a:spcPts val="3611"/>
              </a:lnSpc>
              <a:buFont typeface="Arial"/>
              <a:buChar char="•"/>
            </a:pPr>
            <a:r>
              <a:rPr lang="en-US" sz="2579">
                <a:solidFill>
                  <a:srgbClr val="000000"/>
                </a:solidFill>
                <a:latin typeface="Canva Sans"/>
                <a:ea typeface="Canva Sans"/>
                <a:cs typeface="Canva Sans"/>
                <a:sym typeface="Canva Sans"/>
              </a:rPr>
              <a:t> View all branches across the system</a:t>
            </a:r>
          </a:p>
          <a:p>
            <a:pPr algn="just" marL="557022" indent="-278511" lvl="1">
              <a:lnSpc>
                <a:spcPts val="3611"/>
              </a:lnSpc>
              <a:buFont typeface="Arial"/>
              <a:buChar char="•"/>
            </a:pPr>
            <a:r>
              <a:rPr lang="en-US" sz="2579">
                <a:solidFill>
                  <a:srgbClr val="000000"/>
                </a:solidFill>
                <a:latin typeface="Canva Sans"/>
                <a:ea typeface="Canva Sans"/>
                <a:cs typeface="Canva Sans"/>
                <a:sym typeface="Canva Sans"/>
              </a:rPr>
              <a:t>Edit branch details (name, address, contact, password)</a:t>
            </a:r>
          </a:p>
          <a:p>
            <a:pPr algn="just" marL="557022" indent="-278511" lvl="1">
              <a:lnSpc>
                <a:spcPts val="3611"/>
              </a:lnSpc>
              <a:buFont typeface="Arial"/>
              <a:buChar char="•"/>
            </a:pPr>
            <a:r>
              <a:rPr lang="en-US" sz="2579">
                <a:solidFill>
                  <a:srgbClr val="000000"/>
                </a:solidFill>
                <a:latin typeface="Canva Sans"/>
                <a:ea typeface="Canva Sans"/>
                <a:cs typeface="Canva Sans"/>
                <a:sym typeface="Canva Sans"/>
              </a:rPr>
              <a:t>Delete branches</a:t>
            </a:r>
          </a:p>
          <a:p>
            <a:pPr algn="just" marL="557022" indent="-278511" lvl="1">
              <a:lnSpc>
                <a:spcPts val="3611"/>
              </a:lnSpc>
              <a:buFont typeface="Arial"/>
              <a:buChar char="•"/>
            </a:pPr>
            <a:r>
              <a:rPr lang="en-US" sz="2579">
                <a:solidFill>
                  <a:srgbClr val="000000"/>
                </a:solidFill>
                <a:latin typeface="Canva Sans"/>
                <a:ea typeface="Canva Sans"/>
                <a:cs typeface="Canva Sans"/>
                <a:sym typeface="Canva Sans"/>
              </a:rPr>
              <a:t>Cannot manage individual rooms or reservations</a:t>
            </a:r>
          </a:p>
          <a:p>
            <a:pPr algn="just">
              <a:lnSpc>
                <a:spcPts val="3611"/>
              </a:lnSpc>
            </a:pPr>
            <a:r>
              <a:rPr lang="en-US" sz="2579">
                <a:solidFill>
                  <a:srgbClr val="000000"/>
                </a:solidFill>
                <a:latin typeface="Canva Sans"/>
                <a:ea typeface="Canva Sans"/>
                <a:cs typeface="Canva Sans"/>
                <a:sym typeface="Canva Sans"/>
              </a:rPr>
              <a:t> Branch Manager</a:t>
            </a:r>
          </a:p>
          <a:p>
            <a:pPr algn="just" marL="557022" indent="-278511" lvl="1">
              <a:lnSpc>
                <a:spcPts val="3611"/>
              </a:lnSpc>
              <a:buFont typeface="Arial"/>
              <a:buChar char="•"/>
            </a:pPr>
            <a:r>
              <a:rPr lang="en-US" sz="2579">
                <a:solidFill>
                  <a:srgbClr val="000000"/>
                </a:solidFill>
                <a:latin typeface="Canva Sans"/>
                <a:ea typeface="Canva Sans"/>
                <a:cs typeface="Canva Sans"/>
                <a:sym typeface="Canva Sans"/>
              </a:rPr>
              <a:t>Log in with branch credentials</a:t>
            </a:r>
          </a:p>
          <a:p>
            <a:pPr algn="just" marL="557022" indent="-278511" lvl="1">
              <a:lnSpc>
                <a:spcPts val="3611"/>
              </a:lnSpc>
              <a:buFont typeface="Arial"/>
              <a:buChar char="•"/>
            </a:pPr>
            <a:r>
              <a:rPr lang="en-US" sz="2579">
                <a:solidFill>
                  <a:srgbClr val="000000"/>
                </a:solidFill>
                <a:latin typeface="Canva Sans"/>
                <a:ea typeface="Canva Sans"/>
                <a:cs typeface="Canva Sans"/>
                <a:sym typeface="Canva Sans"/>
              </a:rPr>
              <a:t>Add, edit, delete rooms</a:t>
            </a:r>
          </a:p>
          <a:p>
            <a:pPr algn="just" marL="557022" indent="-278511" lvl="1">
              <a:lnSpc>
                <a:spcPts val="3611"/>
              </a:lnSpc>
              <a:buFont typeface="Arial"/>
              <a:buChar char="•"/>
            </a:pPr>
            <a:r>
              <a:rPr lang="en-US" sz="2579">
                <a:solidFill>
                  <a:srgbClr val="000000"/>
                </a:solidFill>
                <a:latin typeface="Canva Sans"/>
                <a:ea typeface="Canva Sans"/>
                <a:cs typeface="Canva Sans"/>
                <a:sym typeface="Canva Sans"/>
              </a:rPr>
              <a:t> View all rooms in their branch </a:t>
            </a:r>
          </a:p>
          <a:p>
            <a:pPr algn="just" marL="557022" indent="-278511" lvl="1">
              <a:lnSpc>
                <a:spcPts val="3611"/>
              </a:lnSpc>
              <a:buFont typeface="Arial"/>
              <a:buChar char="•"/>
            </a:pPr>
            <a:r>
              <a:rPr lang="en-US" sz="2579">
                <a:solidFill>
                  <a:srgbClr val="000000"/>
                </a:solidFill>
                <a:latin typeface="Canva Sans"/>
                <a:ea typeface="Canva Sans"/>
                <a:cs typeface="Canva Sans"/>
                <a:sym typeface="Canva Sans"/>
              </a:rPr>
              <a:t>Track room status (available, occupied, maintenance)</a:t>
            </a:r>
          </a:p>
          <a:p>
            <a:pPr algn="just" marL="557022" indent="-278511" lvl="1">
              <a:lnSpc>
                <a:spcPts val="3611"/>
              </a:lnSpc>
              <a:buFont typeface="Arial"/>
              <a:buChar char="•"/>
            </a:pPr>
            <a:r>
              <a:rPr lang="en-US" sz="2579">
                <a:solidFill>
                  <a:srgbClr val="000000"/>
                </a:solidFill>
                <a:latin typeface="Canva Sans"/>
                <a:ea typeface="Canva Sans"/>
                <a:cs typeface="Canva Sans"/>
                <a:sym typeface="Canva Sans"/>
              </a:rPr>
              <a:t>Add, edit, delete guest reservations</a:t>
            </a:r>
          </a:p>
          <a:p>
            <a:pPr algn="just" marL="557022" indent="-278511" lvl="1">
              <a:lnSpc>
                <a:spcPts val="3611"/>
              </a:lnSpc>
              <a:buFont typeface="Arial"/>
              <a:buChar char="•"/>
            </a:pPr>
            <a:r>
              <a:rPr lang="en-US" sz="2579">
                <a:solidFill>
                  <a:srgbClr val="000000"/>
                </a:solidFill>
                <a:latin typeface="Canva Sans"/>
                <a:ea typeface="Canva Sans"/>
                <a:cs typeface="Canva Sans"/>
                <a:sym typeface="Canva Sans"/>
              </a:rPr>
              <a:t>View all reservations in their branch</a:t>
            </a:r>
          </a:p>
          <a:p>
            <a:pPr algn="just" marL="557022" indent="-278511" lvl="1">
              <a:lnSpc>
                <a:spcPts val="3611"/>
              </a:lnSpc>
              <a:buFont typeface="Arial"/>
              <a:buChar char="•"/>
            </a:pPr>
            <a:r>
              <a:rPr lang="en-US" sz="2579">
                <a:solidFill>
                  <a:srgbClr val="000000"/>
                </a:solidFill>
                <a:latin typeface="Canva Sans"/>
                <a:ea typeface="Canva Sans"/>
                <a:cs typeface="Canva Sans"/>
                <a:sym typeface="Canva Sans"/>
              </a:rPr>
              <a:t>Search and filter rooms and reservations </a:t>
            </a:r>
          </a:p>
          <a:p>
            <a:pPr algn="just" marL="557022" indent="-278511" lvl="1">
              <a:lnSpc>
                <a:spcPts val="3611"/>
              </a:lnSpc>
              <a:buFont typeface="Arial"/>
              <a:buChar char="•"/>
            </a:pPr>
            <a:r>
              <a:rPr lang="en-US" sz="2579">
                <a:solidFill>
                  <a:srgbClr val="000000"/>
                </a:solidFill>
                <a:latin typeface="Canva Sans"/>
                <a:ea typeface="Canva Sans"/>
                <a:cs typeface="Canva Sans"/>
                <a:sym typeface="Canva Sans"/>
              </a:rPr>
              <a:t>Cannot access other branches’ data or manage branch accounts</a:t>
            </a:r>
          </a:p>
          <a:p>
            <a:pPr algn="just">
              <a:lnSpc>
                <a:spcPts val="3611"/>
              </a:lnSpc>
            </a:pP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F5F6F8"/>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
            <a:chOff x="0" y="0"/>
            <a:chExt cx="22991997" cy="1293300"/>
          </a:xfrm>
        </p:grpSpPr>
        <p:sp>
          <p:nvSpPr>
            <p:cNvPr name="Freeform 3" id="3"/>
            <p:cNvSpPr/>
            <p:nvPr/>
          </p:nvSpPr>
          <p:spPr>
            <a:xfrm flipH="false" flipV="false" rot="0">
              <a:off x="0" y="0"/>
              <a:ext cx="22991997" cy="1293300"/>
            </a:xfrm>
            <a:custGeom>
              <a:avLst/>
              <a:gdLst/>
              <a:ahLst/>
              <a:cxnLst/>
              <a:rect r="r" b="b" t="t" l="l"/>
              <a:pathLst>
                <a:path h="1293300" w="22991997">
                  <a:moveTo>
                    <a:pt x="0" y="0"/>
                  </a:moveTo>
                  <a:lnTo>
                    <a:pt x="22991997" y="0"/>
                  </a:lnTo>
                  <a:lnTo>
                    <a:pt x="22991997" y="1293300"/>
                  </a:lnTo>
                  <a:lnTo>
                    <a:pt x="0" y="1293300"/>
                  </a:lnTo>
                  <a:close/>
                </a:path>
              </a:pathLst>
            </a:custGeom>
            <a:solidFill>
              <a:srgbClr val="1067F4"/>
            </a:solidFill>
          </p:spPr>
        </p:sp>
      </p:grpSp>
      <p:sp>
        <p:nvSpPr>
          <p:cNvPr name="TextBox 4" id="4"/>
          <p:cNvSpPr txBox="true"/>
          <p:nvPr/>
        </p:nvSpPr>
        <p:spPr>
          <a:xfrm rot="0">
            <a:off x="380608" y="3175"/>
            <a:ext cx="6848808" cy="862330"/>
          </a:xfrm>
          <a:prstGeom prst="rect">
            <a:avLst/>
          </a:prstGeom>
        </p:spPr>
        <p:txBody>
          <a:bodyPr anchor="t" rtlCol="false" tIns="0" lIns="0" bIns="0" rIns="0">
            <a:spAutoFit/>
          </a:bodyPr>
          <a:lstStyle/>
          <a:p>
            <a:pPr algn="l">
              <a:lnSpc>
                <a:spcPts val="6019"/>
              </a:lnSpc>
            </a:pPr>
            <a:r>
              <a:rPr lang="en-US" sz="4299">
                <a:solidFill>
                  <a:srgbClr val="FFFFFF"/>
                </a:solidFill>
                <a:latin typeface="Rustic Printed"/>
                <a:ea typeface="Rustic Printed"/>
                <a:cs typeface="Rustic Printed"/>
                <a:sym typeface="Rustic Printed"/>
              </a:rPr>
              <a:t>System Overview</a:t>
            </a:r>
          </a:p>
        </p:txBody>
      </p:sp>
      <p:sp>
        <p:nvSpPr>
          <p:cNvPr name="TextBox 5" id="5"/>
          <p:cNvSpPr txBox="true"/>
          <p:nvPr/>
        </p:nvSpPr>
        <p:spPr>
          <a:xfrm rot="0">
            <a:off x="610144" y="1377091"/>
            <a:ext cx="1923306" cy="448818"/>
          </a:xfrm>
          <a:prstGeom prst="rect">
            <a:avLst/>
          </a:prstGeom>
        </p:spPr>
        <p:txBody>
          <a:bodyPr anchor="t" rtlCol="false" tIns="0" lIns="0" bIns="0" rIns="0">
            <a:spAutoFit/>
          </a:bodyPr>
          <a:lstStyle/>
          <a:p>
            <a:pPr algn="l">
              <a:lnSpc>
                <a:spcPts val="3611"/>
              </a:lnSpc>
            </a:pPr>
            <a:r>
              <a:rPr lang="en-US" sz="2579" b="true">
                <a:solidFill>
                  <a:srgbClr val="000000"/>
                </a:solidFill>
                <a:latin typeface="Canva Sans Bold"/>
                <a:ea typeface="Canva Sans Bold"/>
                <a:cs typeface="Canva Sans Bold"/>
                <a:sym typeface="Canva Sans Bold"/>
              </a:rPr>
              <a:t>Main Future</a:t>
            </a:r>
          </a:p>
        </p:txBody>
      </p:sp>
      <p:sp>
        <p:nvSpPr>
          <p:cNvPr name="TextBox 6" id="6"/>
          <p:cNvSpPr txBox="true"/>
          <p:nvPr/>
        </p:nvSpPr>
        <p:spPr>
          <a:xfrm rot="0">
            <a:off x="709145" y="1768759"/>
            <a:ext cx="15564439" cy="4106418"/>
          </a:xfrm>
          <a:prstGeom prst="rect">
            <a:avLst/>
          </a:prstGeom>
        </p:spPr>
        <p:txBody>
          <a:bodyPr anchor="t" rtlCol="false" tIns="0" lIns="0" bIns="0" rIns="0">
            <a:spAutoFit/>
          </a:bodyPr>
          <a:lstStyle/>
          <a:p>
            <a:pPr algn="just" marL="557022" indent="-278511" lvl="1">
              <a:lnSpc>
                <a:spcPts val="3611"/>
              </a:lnSpc>
              <a:buFont typeface="Arial"/>
              <a:buChar char="•"/>
            </a:pPr>
            <a:r>
              <a:rPr lang="en-US" sz="2579">
                <a:solidFill>
                  <a:srgbClr val="000000"/>
                </a:solidFill>
                <a:latin typeface="Canva Sans"/>
                <a:ea typeface="Canva Sans"/>
                <a:cs typeface="Canva Sans"/>
                <a:sym typeface="Canva Sans"/>
              </a:rPr>
              <a:t>Authentication – Login system for admin and branch managers</a:t>
            </a:r>
          </a:p>
          <a:p>
            <a:pPr algn="just" marL="557022" indent="-278511" lvl="1">
              <a:lnSpc>
                <a:spcPts val="3611"/>
              </a:lnSpc>
              <a:buFont typeface="Arial"/>
              <a:buChar char="•"/>
            </a:pPr>
            <a:r>
              <a:rPr lang="en-US" sz="2579">
                <a:solidFill>
                  <a:srgbClr val="000000"/>
                </a:solidFill>
                <a:latin typeface="Canva Sans"/>
                <a:ea typeface="Canva Sans"/>
                <a:cs typeface="Canva Sans"/>
                <a:sym typeface="Canva Sans"/>
              </a:rPr>
              <a:t>Room Management – Add, edit, delete rooms with pricing, capacity, status tracking</a:t>
            </a:r>
          </a:p>
          <a:p>
            <a:pPr algn="just" marL="557022" indent="-278511" lvl="1">
              <a:lnSpc>
                <a:spcPts val="3611"/>
              </a:lnSpc>
              <a:buFont typeface="Arial"/>
              <a:buChar char="•"/>
            </a:pPr>
            <a:r>
              <a:rPr lang="en-US" sz="2579">
                <a:solidFill>
                  <a:srgbClr val="000000"/>
                </a:solidFill>
                <a:latin typeface="Canva Sans"/>
                <a:ea typeface="Canva Sans"/>
                <a:cs typeface="Canva Sans"/>
                <a:sym typeface="Canva Sans"/>
              </a:rPr>
              <a:t>Reservation System – Create, Update, delete guest bookings with dates and payment status</a:t>
            </a:r>
          </a:p>
          <a:p>
            <a:pPr algn="just" marL="557022" indent="-278511" lvl="1">
              <a:lnSpc>
                <a:spcPts val="3611"/>
              </a:lnSpc>
              <a:buFont typeface="Arial"/>
              <a:buChar char="•"/>
            </a:pPr>
            <a:r>
              <a:rPr lang="en-US" sz="2579">
                <a:solidFill>
                  <a:srgbClr val="000000"/>
                </a:solidFill>
                <a:latin typeface="Canva Sans"/>
                <a:ea typeface="Canva Sans"/>
                <a:cs typeface="Canva Sans"/>
                <a:sym typeface="Canva Sans"/>
              </a:rPr>
              <a:t>Branch Management – Admin controls for managing branch accounts</a:t>
            </a:r>
          </a:p>
          <a:p>
            <a:pPr algn="just" marL="557022" indent="-278511" lvl="1">
              <a:lnSpc>
                <a:spcPts val="3611"/>
              </a:lnSpc>
              <a:buFont typeface="Arial"/>
              <a:buChar char="•"/>
            </a:pPr>
            <a:r>
              <a:rPr lang="en-US" sz="2579">
                <a:solidFill>
                  <a:srgbClr val="000000"/>
                </a:solidFill>
                <a:latin typeface="Canva Sans"/>
                <a:ea typeface="Canva Sans"/>
                <a:cs typeface="Canva Sans"/>
                <a:sym typeface="Canva Sans"/>
              </a:rPr>
              <a:t>Search/filter – Real- time filtering across all data tables</a:t>
            </a:r>
          </a:p>
          <a:p>
            <a:pPr algn="just" marL="557022" indent="-278511" lvl="1">
              <a:lnSpc>
                <a:spcPts val="3611"/>
              </a:lnSpc>
              <a:buFont typeface="Arial"/>
              <a:buChar char="•"/>
            </a:pPr>
            <a:r>
              <a:rPr lang="en-US" sz="2579">
                <a:solidFill>
                  <a:srgbClr val="000000"/>
                </a:solidFill>
                <a:latin typeface="Canva Sans"/>
                <a:ea typeface="Canva Sans"/>
                <a:cs typeface="Canva Sans"/>
                <a:sym typeface="Canva Sans"/>
              </a:rPr>
              <a:t>Database – SQLite storage with isolation </a:t>
            </a:r>
          </a:p>
          <a:p>
            <a:pPr algn="just" marL="557022" indent="-278511" lvl="1">
              <a:lnSpc>
                <a:spcPts val="3611"/>
              </a:lnSpc>
              <a:buFont typeface="Arial"/>
              <a:buChar char="•"/>
            </a:pPr>
            <a:r>
              <a:rPr lang="en-US" sz="2579">
                <a:solidFill>
                  <a:srgbClr val="000000"/>
                </a:solidFill>
                <a:latin typeface="Canva Sans"/>
                <a:ea typeface="Canva Sans"/>
                <a:cs typeface="Canva Sans"/>
                <a:sym typeface="Canva Sans"/>
              </a:rPr>
              <a:t>Status Tracking – Color – coded room and payment statuses</a:t>
            </a:r>
          </a:p>
          <a:p>
            <a:pPr algn="just" marL="557022" indent="-278511" lvl="1">
              <a:lnSpc>
                <a:spcPts val="3611"/>
              </a:lnSpc>
              <a:buFont typeface="Arial"/>
              <a:buChar char="•"/>
            </a:pPr>
            <a:r>
              <a:rPr lang="en-US" sz="2579">
                <a:solidFill>
                  <a:srgbClr val="000000"/>
                </a:solidFill>
                <a:latin typeface="Canva Sans"/>
                <a:ea typeface="Canva Sans"/>
                <a:cs typeface="Canva Sans"/>
                <a:sym typeface="Canva Sans"/>
              </a:rPr>
              <a:t>User Management -  Role – base access control (admin vs manager)</a:t>
            </a:r>
          </a:p>
          <a:p>
            <a:pPr algn="just">
              <a:lnSpc>
                <a:spcPts val="3611"/>
              </a:lnSpc>
            </a:pPr>
          </a:p>
        </p:txBody>
      </p:sp>
      <p:sp>
        <p:nvSpPr>
          <p:cNvPr name="TextBox 7" id="7"/>
          <p:cNvSpPr txBox="true"/>
          <p:nvPr/>
        </p:nvSpPr>
        <p:spPr>
          <a:xfrm rot="0">
            <a:off x="610144" y="5818027"/>
            <a:ext cx="5528999" cy="448818"/>
          </a:xfrm>
          <a:prstGeom prst="rect">
            <a:avLst/>
          </a:prstGeom>
        </p:spPr>
        <p:txBody>
          <a:bodyPr anchor="t" rtlCol="false" tIns="0" lIns="0" bIns="0" rIns="0">
            <a:spAutoFit/>
          </a:bodyPr>
          <a:lstStyle/>
          <a:p>
            <a:pPr algn="l">
              <a:lnSpc>
                <a:spcPts val="3611"/>
              </a:lnSpc>
            </a:pPr>
            <a:r>
              <a:rPr lang="en-US" sz="2579" b="true">
                <a:solidFill>
                  <a:srgbClr val="000000"/>
                </a:solidFill>
                <a:latin typeface="Canva Sans Bold"/>
                <a:ea typeface="Canva Sans Bold"/>
                <a:cs typeface="Canva Sans Bold"/>
                <a:sym typeface="Canva Sans Bold"/>
              </a:rPr>
              <a:t>Tools and Technologies Used</a:t>
            </a:r>
          </a:p>
        </p:txBody>
      </p:sp>
      <p:sp>
        <p:nvSpPr>
          <p:cNvPr name="TextBox 8" id="8"/>
          <p:cNvSpPr txBox="true"/>
          <p:nvPr/>
        </p:nvSpPr>
        <p:spPr>
          <a:xfrm rot="0">
            <a:off x="709145" y="6339731"/>
            <a:ext cx="6520272" cy="2277618"/>
          </a:xfrm>
          <a:prstGeom prst="rect">
            <a:avLst/>
          </a:prstGeom>
        </p:spPr>
        <p:txBody>
          <a:bodyPr anchor="t" rtlCol="false" tIns="0" lIns="0" bIns="0" rIns="0">
            <a:spAutoFit/>
          </a:bodyPr>
          <a:lstStyle/>
          <a:p>
            <a:pPr algn="just" marL="557022" indent="-278511" lvl="1">
              <a:lnSpc>
                <a:spcPts val="3611"/>
              </a:lnSpc>
              <a:buFont typeface="Arial"/>
              <a:buChar char="•"/>
            </a:pPr>
            <a:r>
              <a:rPr lang="en-US" sz="2579">
                <a:solidFill>
                  <a:srgbClr val="000000"/>
                </a:solidFill>
                <a:latin typeface="Canva Sans"/>
                <a:ea typeface="Canva Sans"/>
                <a:cs typeface="Canva Sans"/>
                <a:sym typeface="Canva Sans"/>
              </a:rPr>
              <a:t>Pycharm</a:t>
            </a:r>
          </a:p>
          <a:p>
            <a:pPr algn="just" marL="557022" indent="-278511" lvl="1">
              <a:lnSpc>
                <a:spcPts val="3611"/>
              </a:lnSpc>
              <a:buFont typeface="Arial"/>
              <a:buChar char="•"/>
            </a:pPr>
            <a:r>
              <a:rPr lang="en-US" sz="2579">
                <a:solidFill>
                  <a:srgbClr val="000000"/>
                </a:solidFill>
                <a:latin typeface="Canva Sans"/>
                <a:ea typeface="Canva Sans"/>
                <a:cs typeface="Canva Sans"/>
                <a:sym typeface="Canva Sans"/>
              </a:rPr>
              <a:t>Python3</a:t>
            </a:r>
          </a:p>
          <a:p>
            <a:pPr algn="just" marL="557022" indent="-278511" lvl="1">
              <a:lnSpc>
                <a:spcPts val="3611"/>
              </a:lnSpc>
              <a:buFont typeface="Arial"/>
              <a:buChar char="•"/>
            </a:pPr>
            <a:r>
              <a:rPr lang="en-US" sz="2579">
                <a:solidFill>
                  <a:srgbClr val="000000"/>
                </a:solidFill>
                <a:latin typeface="Canva Sans"/>
                <a:ea typeface="Canva Sans"/>
                <a:cs typeface="Canva Sans"/>
                <a:sym typeface="Canva Sans"/>
              </a:rPr>
              <a:t>PyQt6</a:t>
            </a:r>
          </a:p>
          <a:p>
            <a:pPr algn="just" marL="557022" indent="-278511" lvl="1">
              <a:lnSpc>
                <a:spcPts val="3611"/>
              </a:lnSpc>
              <a:buFont typeface="Arial"/>
              <a:buChar char="•"/>
            </a:pPr>
            <a:r>
              <a:rPr lang="en-US" sz="2579">
                <a:solidFill>
                  <a:srgbClr val="000000"/>
                </a:solidFill>
                <a:latin typeface="Canva Sans"/>
                <a:ea typeface="Canva Sans"/>
                <a:cs typeface="Canva Sans"/>
                <a:sym typeface="Canva Sans"/>
              </a:rPr>
              <a:t>Qt Designer</a:t>
            </a:r>
          </a:p>
          <a:p>
            <a:pPr algn="just" marL="557022" indent="-278511" lvl="1">
              <a:lnSpc>
                <a:spcPts val="3611"/>
              </a:lnSpc>
              <a:buFont typeface="Arial"/>
              <a:buChar char="•"/>
            </a:pPr>
            <a:r>
              <a:rPr lang="en-US" sz="2579">
                <a:solidFill>
                  <a:srgbClr val="000000"/>
                </a:solidFill>
                <a:latin typeface="Canva Sans"/>
                <a:ea typeface="Canva Sans"/>
                <a:cs typeface="Canva Sans"/>
                <a:sym typeface="Canva Sans"/>
              </a:rPr>
              <a:t>SQLite3</a:t>
            </a:r>
          </a:p>
        </p:txBody>
      </p:sp>
      <p:sp>
        <p:nvSpPr>
          <p:cNvPr name="TextBox 9" id="9"/>
          <p:cNvSpPr txBox="true"/>
          <p:nvPr/>
        </p:nvSpPr>
        <p:spPr>
          <a:xfrm rot="0">
            <a:off x="5950040" y="6339731"/>
            <a:ext cx="6725268" cy="1820418"/>
          </a:xfrm>
          <a:prstGeom prst="rect">
            <a:avLst/>
          </a:prstGeom>
        </p:spPr>
        <p:txBody>
          <a:bodyPr anchor="t" rtlCol="false" tIns="0" lIns="0" bIns="0" rIns="0">
            <a:spAutoFit/>
          </a:bodyPr>
          <a:lstStyle/>
          <a:p>
            <a:pPr algn="just" marL="557022" indent="-278511" lvl="1">
              <a:lnSpc>
                <a:spcPts val="3611"/>
              </a:lnSpc>
              <a:buFont typeface="Arial"/>
              <a:buChar char="•"/>
            </a:pPr>
            <a:r>
              <a:rPr lang="en-US" sz="2579">
                <a:solidFill>
                  <a:srgbClr val="000000"/>
                </a:solidFill>
                <a:latin typeface="Canva Sans"/>
                <a:ea typeface="Canva Sans"/>
                <a:cs typeface="Canva Sans"/>
                <a:sym typeface="Canva Sans"/>
              </a:rPr>
              <a:t>Git</a:t>
            </a:r>
          </a:p>
          <a:p>
            <a:pPr algn="just" marL="557022" indent="-278511" lvl="1">
              <a:lnSpc>
                <a:spcPts val="3611"/>
              </a:lnSpc>
              <a:buFont typeface="Arial"/>
              <a:buChar char="•"/>
            </a:pPr>
            <a:r>
              <a:rPr lang="en-US" sz="2579">
                <a:solidFill>
                  <a:srgbClr val="000000"/>
                </a:solidFill>
                <a:latin typeface="Canva Sans"/>
                <a:ea typeface="Canva Sans"/>
                <a:cs typeface="Canva Sans"/>
                <a:sym typeface="Canva Sans"/>
              </a:rPr>
              <a:t>DB Browser</a:t>
            </a:r>
          </a:p>
          <a:p>
            <a:pPr algn="just" marL="557022" indent="-278511" lvl="1">
              <a:lnSpc>
                <a:spcPts val="3611"/>
              </a:lnSpc>
              <a:buFont typeface="Arial"/>
              <a:buChar char="•"/>
            </a:pPr>
            <a:r>
              <a:rPr lang="en-US" sz="2579">
                <a:solidFill>
                  <a:srgbClr val="000000"/>
                </a:solidFill>
                <a:latin typeface="Canva Sans"/>
                <a:ea typeface="Canva Sans"/>
                <a:cs typeface="Canva Sans"/>
                <a:sym typeface="Canva Sans"/>
              </a:rPr>
              <a:t>Python Package Installer (pip)</a:t>
            </a:r>
          </a:p>
          <a:p>
            <a:pPr algn="just" marL="557022" indent="-278511" lvl="1">
              <a:lnSpc>
                <a:spcPts val="3611"/>
              </a:lnSpc>
              <a:buFont typeface="Arial"/>
              <a:buChar char="•"/>
            </a:pPr>
            <a:r>
              <a:rPr lang="en-US" sz="2579">
                <a:solidFill>
                  <a:srgbClr val="000000"/>
                </a:solidFill>
                <a:latin typeface="Canva Sans"/>
                <a:ea typeface="Canva Sans"/>
                <a:cs typeface="Canva Sans"/>
                <a:sym typeface="Canva Sans"/>
              </a:rPr>
              <a:t>Figma</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F5F6F8"/>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
            <a:chOff x="0" y="0"/>
            <a:chExt cx="22991997" cy="1293300"/>
          </a:xfrm>
        </p:grpSpPr>
        <p:sp>
          <p:nvSpPr>
            <p:cNvPr name="Freeform 3" id="3"/>
            <p:cNvSpPr/>
            <p:nvPr/>
          </p:nvSpPr>
          <p:spPr>
            <a:xfrm flipH="false" flipV="false" rot="0">
              <a:off x="0" y="0"/>
              <a:ext cx="22991997" cy="1293300"/>
            </a:xfrm>
            <a:custGeom>
              <a:avLst/>
              <a:gdLst/>
              <a:ahLst/>
              <a:cxnLst/>
              <a:rect r="r" b="b" t="t" l="l"/>
              <a:pathLst>
                <a:path h="1293300" w="22991997">
                  <a:moveTo>
                    <a:pt x="0" y="0"/>
                  </a:moveTo>
                  <a:lnTo>
                    <a:pt x="22991997" y="0"/>
                  </a:lnTo>
                  <a:lnTo>
                    <a:pt x="22991997" y="1293300"/>
                  </a:lnTo>
                  <a:lnTo>
                    <a:pt x="0" y="1293300"/>
                  </a:lnTo>
                  <a:close/>
                </a:path>
              </a:pathLst>
            </a:custGeom>
            <a:solidFill>
              <a:srgbClr val="1067F4"/>
            </a:solidFill>
          </p:spPr>
        </p:sp>
      </p:grpSp>
      <p:sp>
        <p:nvSpPr>
          <p:cNvPr name="TextBox 4" id="4"/>
          <p:cNvSpPr txBox="true"/>
          <p:nvPr/>
        </p:nvSpPr>
        <p:spPr>
          <a:xfrm rot="0">
            <a:off x="380608" y="3175"/>
            <a:ext cx="6848808" cy="862330"/>
          </a:xfrm>
          <a:prstGeom prst="rect">
            <a:avLst/>
          </a:prstGeom>
        </p:spPr>
        <p:txBody>
          <a:bodyPr anchor="t" rtlCol="false" tIns="0" lIns="0" bIns="0" rIns="0">
            <a:spAutoFit/>
          </a:bodyPr>
          <a:lstStyle/>
          <a:p>
            <a:pPr algn="l">
              <a:lnSpc>
                <a:spcPts val="6019"/>
              </a:lnSpc>
            </a:pPr>
            <a:r>
              <a:rPr lang="en-US" sz="4299">
                <a:solidFill>
                  <a:srgbClr val="FFFFFF"/>
                </a:solidFill>
                <a:latin typeface="Rustic Printed"/>
                <a:ea typeface="Rustic Printed"/>
                <a:cs typeface="Rustic Printed"/>
                <a:sym typeface="Rustic Printed"/>
              </a:rPr>
              <a:t>System Overview</a:t>
            </a:r>
          </a:p>
        </p:txBody>
      </p:sp>
      <p:sp>
        <p:nvSpPr>
          <p:cNvPr name="TextBox 5" id="5"/>
          <p:cNvSpPr txBox="true"/>
          <p:nvPr/>
        </p:nvSpPr>
        <p:spPr>
          <a:xfrm rot="0">
            <a:off x="610144" y="1377091"/>
            <a:ext cx="9403854" cy="906018"/>
          </a:xfrm>
          <a:prstGeom prst="rect">
            <a:avLst/>
          </a:prstGeom>
        </p:spPr>
        <p:txBody>
          <a:bodyPr anchor="t" rtlCol="false" tIns="0" lIns="0" bIns="0" rIns="0">
            <a:spAutoFit/>
          </a:bodyPr>
          <a:lstStyle/>
          <a:p>
            <a:pPr algn="l">
              <a:lnSpc>
                <a:spcPts val="3611"/>
              </a:lnSpc>
            </a:pPr>
            <a:r>
              <a:rPr lang="en-US" sz="2579" b="true">
                <a:solidFill>
                  <a:srgbClr val="000000"/>
                </a:solidFill>
                <a:latin typeface="Canva Sans Bold"/>
                <a:ea typeface="Canva Sans Bold"/>
                <a:cs typeface="Canva Sans Bold"/>
                <a:sym typeface="Canva Sans Bold"/>
              </a:rPr>
              <a:t>Programming language(s), database, frameworks, and tools</a:t>
            </a:r>
          </a:p>
          <a:p>
            <a:pPr algn="l">
              <a:lnSpc>
                <a:spcPts val="3611"/>
              </a:lnSpc>
            </a:pPr>
          </a:p>
        </p:txBody>
      </p:sp>
      <p:sp>
        <p:nvSpPr>
          <p:cNvPr name="TextBox 6" id="6"/>
          <p:cNvSpPr txBox="true"/>
          <p:nvPr/>
        </p:nvSpPr>
        <p:spPr>
          <a:xfrm rot="0">
            <a:off x="610144" y="2017467"/>
            <a:ext cx="15564439" cy="6392418"/>
          </a:xfrm>
          <a:prstGeom prst="rect">
            <a:avLst/>
          </a:prstGeom>
        </p:spPr>
        <p:txBody>
          <a:bodyPr anchor="t" rtlCol="false" tIns="0" lIns="0" bIns="0" rIns="0">
            <a:spAutoFit/>
          </a:bodyPr>
          <a:lstStyle/>
          <a:p>
            <a:pPr algn="just">
              <a:lnSpc>
                <a:spcPts val="3611"/>
              </a:lnSpc>
            </a:pPr>
            <a:r>
              <a:rPr lang="en-US" sz="2579">
                <a:solidFill>
                  <a:srgbClr val="000000"/>
                </a:solidFill>
                <a:latin typeface="Canva Sans"/>
                <a:ea typeface="Canva Sans"/>
                <a:cs typeface="Canva Sans"/>
                <a:sym typeface="Canva Sans"/>
              </a:rPr>
              <a:t>Programming Language</a:t>
            </a:r>
          </a:p>
          <a:p>
            <a:pPr algn="just" marL="557022" indent="-278511" lvl="1">
              <a:lnSpc>
                <a:spcPts val="3611"/>
              </a:lnSpc>
              <a:buFont typeface="Arial"/>
              <a:buChar char="•"/>
            </a:pPr>
            <a:r>
              <a:rPr lang="en-US" sz="2579">
                <a:solidFill>
                  <a:srgbClr val="000000"/>
                </a:solidFill>
                <a:latin typeface="Canva Sans"/>
                <a:ea typeface="Canva Sans"/>
                <a:cs typeface="Canva Sans"/>
                <a:sym typeface="Canva Sans"/>
              </a:rPr>
              <a:t>Python3</a:t>
            </a:r>
          </a:p>
          <a:p>
            <a:pPr algn="just">
              <a:lnSpc>
                <a:spcPts val="3611"/>
              </a:lnSpc>
            </a:pPr>
            <a:r>
              <a:rPr lang="en-US" sz="2579">
                <a:solidFill>
                  <a:srgbClr val="000000"/>
                </a:solidFill>
                <a:latin typeface="Canva Sans"/>
                <a:ea typeface="Canva Sans"/>
                <a:cs typeface="Canva Sans"/>
                <a:sym typeface="Canva Sans"/>
              </a:rPr>
              <a:t>Data Management System</a:t>
            </a:r>
          </a:p>
          <a:p>
            <a:pPr algn="just" marL="557022" indent="-278511" lvl="1">
              <a:lnSpc>
                <a:spcPts val="3611"/>
              </a:lnSpc>
              <a:buFont typeface="Arial"/>
              <a:buChar char="•"/>
            </a:pPr>
            <a:r>
              <a:rPr lang="en-US" sz="2579">
                <a:solidFill>
                  <a:srgbClr val="000000"/>
                </a:solidFill>
                <a:latin typeface="Canva Sans"/>
                <a:ea typeface="Canva Sans"/>
                <a:cs typeface="Canva Sans"/>
                <a:sym typeface="Canva Sans"/>
              </a:rPr>
              <a:t>SQLite3</a:t>
            </a:r>
          </a:p>
          <a:p>
            <a:pPr algn="just">
              <a:lnSpc>
                <a:spcPts val="3611"/>
              </a:lnSpc>
            </a:pPr>
            <a:r>
              <a:rPr lang="en-US" sz="2579">
                <a:solidFill>
                  <a:srgbClr val="000000"/>
                </a:solidFill>
                <a:latin typeface="Canva Sans"/>
                <a:ea typeface="Canva Sans"/>
                <a:cs typeface="Canva Sans"/>
                <a:sym typeface="Canva Sans"/>
              </a:rPr>
              <a:t>Framework</a:t>
            </a:r>
          </a:p>
          <a:p>
            <a:pPr algn="just" marL="557022" indent="-278511" lvl="1">
              <a:lnSpc>
                <a:spcPts val="3611"/>
              </a:lnSpc>
              <a:buFont typeface="Arial"/>
              <a:buChar char="•"/>
            </a:pPr>
            <a:r>
              <a:rPr lang="en-US" sz="2579">
                <a:solidFill>
                  <a:srgbClr val="000000"/>
                </a:solidFill>
                <a:latin typeface="Canva Sans"/>
                <a:ea typeface="Canva Sans"/>
                <a:cs typeface="Canva Sans"/>
                <a:sym typeface="Canva Sans"/>
              </a:rPr>
              <a:t>PyQt6</a:t>
            </a:r>
          </a:p>
          <a:p>
            <a:pPr algn="just">
              <a:lnSpc>
                <a:spcPts val="3611"/>
              </a:lnSpc>
            </a:pPr>
            <a:r>
              <a:rPr lang="en-US" sz="2579">
                <a:solidFill>
                  <a:srgbClr val="000000"/>
                </a:solidFill>
                <a:latin typeface="Canva Sans"/>
                <a:ea typeface="Canva Sans"/>
                <a:cs typeface="Canva Sans"/>
                <a:sym typeface="Canva Sans"/>
              </a:rPr>
              <a:t>D</a:t>
            </a:r>
            <a:r>
              <a:rPr lang="en-US" sz="2579">
                <a:solidFill>
                  <a:srgbClr val="000000"/>
                </a:solidFill>
                <a:latin typeface="Canva Sans"/>
                <a:ea typeface="Canva Sans"/>
                <a:cs typeface="Canva Sans"/>
                <a:sym typeface="Canva Sans"/>
              </a:rPr>
              <a:t>evelopment Tools</a:t>
            </a:r>
          </a:p>
          <a:p>
            <a:pPr algn="just" marL="557022" indent="-278511" lvl="1">
              <a:lnSpc>
                <a:spcPts val="3611"/>
              </a:lnSpc>
              <a:buFont typeface="Arial"/>
              <a:buChar char="•"/>
            </a:pPr>
            <a:r>
              <a:rPr lang="en-US" sz="2579">
                <a:solidFill>
                  <a:srgbClr val="000000"/>
                </a:solidFill>
                <a:latin typeface="Canva Sans"/>
                <a:ea typeface="Canva Sans"/>
                <a:cs typeface="Canva Sans"/>
                <a:sym typeface="Canva Sans"/>
              </a:rPr>
              <a:t>Pycharm</a:t>
            </a:r>
          </a:p>
          <a:p>
            <a:pPr algn="just" marL="557022" indent="-278511" lvl="1">
              <a:lnSpc>
                <a:spcPts val="3611"/>
              </a:lnSpc>
              <a:buFont typeface="Arial"/>
              <a:buChar char="•"/>
            </a:pPr>
            <a:r>
              <a:rPr lang="en-US" sz="2579">
                <a:solidFill>
                  <a:srgbClr val="000000"/>
                </a:solidFill>
                <a:latin typeface="Canva Sans"/>
                <a:ea typeface="Canva Sans"/>
                <a:cs typeface="Canva Sans"/>
                <a:sym typeface="Canva Sans"/>
              </a:rPr>
              <a:t>Qt Designer</a:t>
            </a:r>
          </a:p>
          <a:p>
            <a:pPr algn="just" marL="557022" indent="-278511" lvl="1">
              <a:lnSpc>
                <a:spcPts val="3611"/>
              </a:lnSpc>
              <a:buFont typeface="Arial"/>
              <a:buChar char="•"/>
            </a:pPr>
            <a:r>
              <a:rPr lang="en-US" sz="2579">
                <a:solidFill>
                  <a:srgbClr val="000000"/>
                </a:solidFill>
                <a:latin typeface="Canva Sans"/>
                <a:ea typeface="Canva Sans"/>
                <a:cs typeface="Canva Sans"/>
                <a:sym typeface="Canva Sans"/>
              </a:rPr>
              <a:t>DB Browser</a:t>
            </a:r>
          </a:p>
          <a:p>
            <a:pPr algn="just" marL="557022" indent="-278511" lvl="1">
              <a:lnSpc>
                <a:spcPts val="3611"/>
              </a:lnSpc>
              <a:buFont typeface="Arial"/>
              <a:buChar char="•"/>
            </a:pPr>
            <a:r>
              <a:rPr lang="en-US" sz="2579">
                <a:solidFill>
                  <a:srgbClr val="000000"/>
                </a:solidFill>
                <a:latin typeface="Canva Sans"/>
                <a:ea typeface="Canva Sans"/>
                <a:cs typeface="Canva Sans"/>
                <a:sym typeface="Canva Sans"/>
              </a:rPr>
              <a:t>Python Package Installer (pip)</a:t>
            </a:r>
          </a:p>
          <a:p>
            <a:pPr algn="just" marL="557022" indent="-278511" lvl="1">
              <a:lnSpc>
                <a:spcPts val="3611"/>
              </a:lnSpc>
              <a:buFont typeface="Arial"/>
              <a:buChar char="•"/>
            </a:pPr>
            <a:r>
              <a:rPr lang="en-US" sz="2579">
                <a:solidFill>
                  <a:srgbClr val="000000"/>
                </a:solidFill>
                <a:latin typeface="Canva Sans"/>
                <a:ea typeface="Canva Sans"/>
                <a:cs typeface="Canva Sans"/>
                <a:sym typeface="Canva Sans"/>
              </a:rPr>
              <a:t>Github</a:t>
            </a:r>
          </a:p>
          <a:p>
            <a:pPr algn="just" marL="557022" indent="-278511" lvl="1">
              <a:lnSpc>
                <a:spcPts val="3611"/>
              </a:lnSpc>
              <a:buFont typeface="Arial"/>
              <a:buChar char="•"/>
            </a:pPr>
            <a:r>
              <a:rPr lang="en-US" sz="2579">
                <a:solidFill>
                  <a:srgbClr val="000000"/>
                </a:solidFill>
                <a:latin typeface="Canva Sans"/>
                <a:ea typeface="Canva Sans"/>
                <a:cs typeface="Canva Sans"/>
                <a:sym typeface="Canva Sans"/>
              </a:rPr>
              <a:t>Figma</a:t>
            </a:r>
          </a:p>
          <a:p>
            <a:pPr algn="just">
              <a:lnSpc>
                <a:spcPts val="3611"/>
              </a:lnSpc>
            </a:pP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F5F6F8"/>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
            <a:chOff x="0" y="0"/>
            <a:chExt cx="22991997" cy="1293300"/>
          </a:xfrm>
        </p:grpSpPr>
        <p:sp>
          <p:nvSpPr>
            <p:cNvPr name="Freeform 3" id="3"/>
            <p:cNvSpPr/>
            <p:nvPr/>
          </p:nvSpPr>
          <p:spPr>
            <a:xfrm flipH="false" flipV="false" rot="0">
              <a:off x="0" y="0"/>
              <a:ext cx="22991997" cy="1293300"/>
            </a:xfrm>
            <a:custGeom>
              <a:avLst/>
              <a:gdLst/>
              <a:ahLst/>
              <a:cxnLst/>
              <a:rect r="r" b="b" t="t" l="l"/>
              <a:pathLst>
                <a:path h="1293300" w="22991997">
                  <a:moveTo>
                    <a:pt x="0" y="0"/>
                  </a:moveTo>
                  <a:lnTo>
                    <a:pt x="22991997" y="0"/>
                  </a:lnTo>
                  <a:lnTo>
                    <a:pt x="22991997" y="1293300"/>
                  </a:lnTo>
                  <a:lnTo>
                    <a:pt x="0" y="1293300"/>
                  </a:lnTo>
                  <a:close/>
                </a:path>
              </a:pathLst>
            </a:custGeom>
            <a:solidFill>
              <a:srgbClr val="1067F4"/>
            </a:solidFill>
          </p:spPr>
        </p:sp>
      </p:grpSp>
      <p:sp>
        <p:nvSpPr>
          <p:cNvPr name="TextBox 4" id="4"/>
          <p:cNvSpPr txBox="true"/>
          <p:nvPr/>
        </p:nvSpPr>
        <p:spPr>
          <a:xfrm rot="0">
            <a:off x="380608" y="3175"/>
            <a:ext cx="6848808" cy="862330"/>
          </a:xfrm>
          <a:prstGeom prst="rect">
            <a:avLst/>
          </a:prstGeom>
        </p:spPr>
        <p:txBody>
          <a:bodyPr anchor="t" rtlCol="false" tIns="0" lIns="0" bIns="0" rIns="0">
            <a:spAutoFit/>
          </a:bodyPr>
          <a:lstStyle/>
          <a:p>
            <a:pPr algn="l">
              <a:lnSpc>
                <a:spcPts val="6019"/>
              </a:lnSpc>
            </a:pPr>
            <a:r>
              <a:rPr lang="en-US" sz="4299">
                <a:solidFill>
                  <a:srgbClr val="FFFFFF"/>
                </a:solidFill>
                <a:latin typeface="Rustic Printed"/>
                <a:ea typeface="Rustic Printed"/>
                <a:cs typeface="Rustic Printed"/>
                <a:sym typeface="Rustic Printed"/>
              </a:rPr>
              <a:t>System Overview</a:t>
            </a:r>
          </a:p>
        </p:txBody>
      </p:sp>
      <p:sp>
        <p:nvSpPr>
          <p:cNvPr name="TextBox 5" id="5"/>
          <p:cNvSpPr txBox="true"/>
          <p:nvPr/>
        </p:nvSpPr>
        <p:spPr>
          <a:xfrm rot="0">
            <a:off x="618709" y="1423525"/>
            <a:ext cx="3951391" cy="448818"/>
          </a:xfrm>
          <a:prstGeom prst="rect">
            <a:avLst/>
          </a:prstGeom>
        </p:spPr>
        <p:txBody>
          <a:bodyPr anchor="t" rtlCol="false" tIns="0" lIns="0" bIns="0" rIns="0">
            <a:spAutoFit/>
          </a:bodyPr>
          <a:lstStyle/>
          <a:p>
            <a:pPr algn="l">
              <a:lnSpc>
                <a:spcPts val="3611"/>
              </a:lnSpc>
            </a:pPr>
            <a:r>
              <a:rPr lang="en-US" sz="2579" b="true">
                <a:solidFill>
                  <a:srgbClr val="000000"/>
                </a:solidFill>
                <a:latin typeface="Canva Sans Bold"/>
                <a:ea typeface="Canva Sans Bold"/>
                <a:cs typeface="Canva Sans Bold"/>
                <a:sym typeface="Canva Sans Bold"/>
              </a:rPr>
              <a:t>Database Overview</a:t>
            </a:r>
          </a:p>
        </p:txBody>
      </p:sp>
      <p:sp>
        <p:nvSpPr>
          <p:cNvPr name="TextBox 6" id="6"/>
          <p:cNvSpPr txBox="true"/>
          <p:nvPr/>
        </p:nvSpPr>
        <p:spPr>
          <a:xfrm rot="0">
            <a:off x="1028700" y="1824718"/>
            <a:ext cx="16230600" cy="7871079"/>
          </a:xfrm>
          <a:prstGeom prst="rect">
            <a:avLst/>
          </a:prstGeom>
        </p:spPr>
        <p:txBody>
          <a:bodyPr anchor="t" rtlCol="false" tIns="0" lIns="0" bIns="0" rIns="0">
            <a:spAutoFit/>
          </a:bodyPr>
          <a:lstStyle/>
          <a:p>
            <a:pPr algn="just">
              <a:lnSpc>
                <a:spcPts val="3486"/>
              </a:lnSpc>
            </a:pPr>
            <a:r>
              <a:rPr lang="en-US" sz="2490">
                <a:solidFill>
                  <a:srgbClr val="000000"/>
                </a:solidFill>
                <a:latin typeface="Canva Sans"/>
                <a:ea typeface="Canva Sans"/>
                <a:cs typeface="Canva Sans"/>
                <a:sym typeface="Canva Sans"/>
              </a:rPr>
              <a:t>account_table</a:t>
            </a:r>
          </a:p>
          <a:p>
            <a:pPr algn="just" marL="537591" indent="-268796" lvl="1">
              <a:lnSpc>
                <a:spcPts val="3486"/>
              </a:lnSpc>
              <a:buFont typeface="Arial"/>
              <a:buChar char="•"/>
            </a:pPr>
            <a:r>
              <a:rPr lang="en-US" sz="2490">
                <a:solidFill>
                  <a:srgbClr val="000000"/>
                </a:solidFill>
                <a:latin typeface="Canva Sans"/>
                <a:ea typeface="Canva Sans"/>
                <a:cs typeface="Canva Sans"/>
                <a:sym typeface="Canva Sans"/>
              </a:rPr>
              <a:t>S</a:t>
            </a:r>
            <a:r>
              <a:rPr lang="en-US" sz="2490">
                <a:solidFill>
                  <a:srgbClr val="000000"/>
                </a:solidFill>
                <a:latin typeface="Canva Sans"/>
                <a:ea typeface="Canva Sans"/>
                <a:cs typeface="Canva Sans"/>
                <a:sym typeface="Canva Sans"/>
              </a:rPr>
              <a:t>tores a</a:t>
            </a:r>
            <a:r>
              <a:rPr lang="en-US" sz="2490">
                <a:solidFill>
                  <a:srgbClr val="000000"/>
                </a:solidFill>
                <a:latin typeface="Canva Sans"/>
                <a:ea typeface="Canva Sans"/>
                <a:cs typeface="Canva Sans"/>
                <a:sym typeface="Canva Sans"/>
              </a:rPr>
              <a:t>dministrator login c</a:t>
            </a:r>
            <a:r>
              <a:rPr lang="en-US" sz="2490">
                <a:solidFill>
                  <a:srgbClr val="000000"/>
                </a:solidFill>
                <a:latin typeface="Canva Sans"/>
                <a:ea typeface="Canva Sans"/>
                <a:cs typeface="Canva Sans"/>
                <a:sym typeface="Canva Sans"/>
              </a:rPr>
              <a:t>redentials</a:t>
            </a:r>
          </a:p>
          <a:p>
            <a:pPr algn="just" marL="537591" indent="-268796" lvl="1">
              <a:lnSpc>
                <a:spcPts val="3486"/>
              </a:lnSpc>
              <a:buFont typeface="Arial"/>
              <a:buChar char="•"/>
            </a:pPr>
            <a:r>
              <a:rPr lang="en-US" sz="2490">
                <a:solidFill>
                  <a:srgbClr val="000000"/>
                </a:solidFill>
                <a:latin typeface="Canva Sans"/>
                <a:ea typeface="Canva Sans"/>
                <a:cs typeface="Canva Sans"/>
                <a:sym typeface="Canva Sans"/>
              </a:rPr>
              <a:t>Single record for system admin access</a:t>
            </a:r>
          </a:p>
          <a:p>
            <a:pPr algn="just">
              <a:lnSpc>
                <a:spcPts val="3486"/>
              </a:lnSpc>
            </a:pPr>
            <a:r>
              <a:rPr lang="en-US" sz="2490">
                <a:solidFill>
                  <a:srgbClr val="000000"/>
                </a:solidFill>
                <a:latin typeface="Canva Sans"/>
                <a:ea typeface="Canva Sans"/>
                <a:cs typeface="Canva Sans"/>
                <a:sym typeface="Canva Sans"/>
              </a:rPr>
              <a:t>branches_table</a:t>
            </a:r>
          </a:p>
          <a:p>
            <a:pPr algn="just" marL="537591" indent="-268796" lvl="1">
              <a:lnSpc>
                <a:spcPts val="3486"/>
              </a:lnSpc>
              <a:buFont typeface="Arial"/>
              <a:buChar char="•"/>
            </a:pPr>
            <a:r>
              <a:rPr lang="en-US" sz="2490">
                <a:solidFill>
                  <a:srgbClr val="000000"/>
                </a:solidFill>
                <a:latin typeface="Canva Sans"/>
                <a:ea typeface="Canva Sans"/>
                <a:cs typeface="Canva Sans"/>
                <a:sym typeface="Canva Sans"/>
              </a:rPr>
              <a:t>Stores branch account information (username, password, address, contact)</a:t>
            </a:r>
          </a:p>
          <a:p>
            <a:pPr algn="just" marL="537591" indent="-268796" lvl="1">
              <a:lnSpc>
                <a:spcPts val="3486"/>
              </a:lnSpc>
              <a:buFont typeface="Arial"/>
              <a:buChar char="•"/>
            </a:pPr>
            <a:r>
              <a:rPr lang="en-US" sz="2490">
                <a:solidFill>
                  <a:srgbClr val="000000"/>
                </a:solidFill>
                <a:latin typeface="Canva Sans"/>
                <a:ea typeface="Canva Sans"/>
                <a:cs typeface="Canva Sans"/>
                <a:sym typeface="Canva Sans"/>
              </a:rPr>
              <a:t>One admin manages multiple branches</a:t>
            </a:r>
          </a:p>
          <a:p>
            <a:pPr algn="just" marL="537591" indent="-268796" lvl="1">
              <a:lnSpc>
                <a:spcPts val="3486"/>
              </a:lnSpc>
              <a:buFont typeface="Arial"/>
              <a:buChar char="•"/>
            </a:pPr>
            <a:r>
              <a:rPr lang="en-US" sz="2490">
                <a:solidFill>
                  <a:srgbClr val="000000"/>
                </a:solidFill>
                <a:latin typeface="Canva Sans"/>
                <a:ea typeface="Canva Sans"/>
                <a:cs typeface="Canva Sans"/>
                <a:sym typeface="Canva Sans"/>
              </a:rPr>
              <a:t>E</a:t>
            </a:r>
            <a:r>
              <a:rPr lang="en-US" sz="2490">
                <a:solidFill>
                  <a:srgbClr val="000000"/>
                </a:solidFill>
                <a:latin typeface="Canva Sans"/>
                <a:ea typeface="Canva Sans"/>
                <a:cs typeface="Canva Sans"/>
                <a:sym typeface="Canva Sans"/>
              </a:rPr>
              <a:t>ach branch has its own separate</a:t>
            </a:r>
            <a:r>
              <a:rPr lang="en-US" sz="2490">
                <a:solidFill>
                  <a:srgbClr val="000000"/>
                </a:solidFill>
                <a:latin typeface="Canva Sans"/>
                <a:ea typeface="Canva Sans"/>
                <a:cs typeface="Canva Sans"/>
                <a:sym typeface="Canva Sans"/>
              </a:rPr>
              <a:t> database file</a:t>
            </a:r>
          </a:p>
          <a:p>
            <a:pPr algn="just">
              <a:lnSpc>
                <a:spcPts val="3486"/>
              </a:lnSpc>
            </a:pPr>
            <a:r>
              <a:rPr lang="en-US" sz="2490">
                <a:solidFill>
                  <a:srgbClr val="000000"/>
                </a:solidFill>
                <a:latin typeface="Canva Sans"/>
                <a:ea typeface="Canva Sans"/>
                <a:cs typeface="Canva Sans"/>
                <a:sym typeface="Canva Sans"/>
              </a:rPr>
              <a:t>ro</a:t>
            </a:r>
            <a:r>
              <a:rPr lang="en-US" sz="2490">
                <a:solidFill>
                  <a:srgbClr val="000000"/>
                </a:solidFill>
                <a:latin typeface="Canva Sans"/>
                <a:ea typeface="Canva Sans"/>
                <a:cs typeface="Canva Sans"/>
                <a:sym typeface="Canva Sans"/>
              </a:rPr>
              <a:t>oms (per branch database)</a:t>
            </a:r>
          </a:p>
          <a:p>
            <a:pPr algn="just" marL="537591" indent="-268796" lvl="1">
              <a:lnSpc>
                <a:spcPts val="3486"/>
              </a:lnSpc>
              <a:buFont typeface="Arial"/>
              <a:buChar char="•"/>
            </a:pPr>
            <a:r>
              <a:rPr lang="en-US" sz="2490">
                <a:solidFill>
                  <a:srgbClr val="000000"/>
                </a:solidFill>
                <a:latin typeface="Canva Sans"/>
                <a:ea typeface="Canva Sans"/>
                <a:cs typeface="Canva Sans"/>
                <a:sym typeface="Canva Sans"/>
              </a:rPr>
              <a:t>S</a:t>
            </a:r>
            <a:r>
              <a:rPr lang="en-US" sz="2490">
                <a:solidFill>
                  <a:srgbClr val="000000"/>
                </a:solidFill>
                <a:latin typeface="Canva Sans"/>
                <a:ea typeface="Canva Sans"/>
                <a:cs typeface="Canva Sans"/>
                <a:sym typeface="Canva Sans"/>
              </a:rPr>
              <a:t>tores rooms details (room_number, type, price_rate, capacity, status, description)</a:t>
            </a:r>
          </a:p>
          <a:p>
            <a:pPr algn="just" marL="537591" indent="-268796" lvl="1">
              <a:lnSpc>
                <a:spcPts val="3486"/>
              </a:lnSpc>
              <a:buFont typeface="Arial"/>
              <a:buChar char="•"/>
            </a:pPr>
            <a:r>
              <a:rPr lang="en-US" sz="2490">
                <a:solidFill>
                  <a:srgbClr val="000000"/>
                </a:solidFill>
                <a:latin typeface="Canva Sans"/>
                <a:ea typeface="Canva Sans"/>
                <a:cs typeface="Canva Sans"/>
                <a:sym typeface="Canva Sans"/>
              </a:rPr>
              <a:t>Links to reservation through room_number</a:t>
            </a:r>
          </a:p>
          <a:p>
            <a:pPr algn="just" marL="537591" indent="-268796" lvl="1">
              <a:lnSpc>
                <a:spcPts val="3486"/>
              </a:lnSpc>
              <a:buFont typeface="Arial"/>
              <a:buChar char="•"/>
            </a:pPr>
            <a:r>
              <a:rPr lang="en-US" sz="2490">
                <a:solidFill>
                  <a:srgbClr val="000000"/>
                </a:solidFill>
                <a:latin typeface="Canva Sans"/>
                <a:ea typeface="Canva Sans"/>
                <a:cs typeface="Canva Sans"/>
                <a:sym typeface="Canva Sans"/>
              </a:rPr>
              <a:t>Status values available, occupied and maintenance</a:t>
            </a:r>
          </a:p>
          <a:p>
            <a:pPr algn="just">
              <a:lnSpc>
                <a:spcPts val="3486"/>
              </a:lnSpc>
            </a:pPr>
            <a:r>
              <a:rPr lang="en-US" sz="2490">
                <a:solidFill>
                  <a:srgbClr val="000000"/>
                </a:solidFill>
                <a:latin typeface="Canva Sans"/>
                <a:ea typeface="Canva Sans"/>
                <a:cs typeface="Canva Sans"/>
                <a:sym typeface="Canva Sans"/>
              </a:rPr>
              <a:t>res</a:t>
            </a:r>
            <a:r>
              <a:rPr lang="en-US" sz="2490">
                <a:solidFill>
                  <a:srgbClr val="000000"/>
                </a:solidFill>
                <a:latin typeface="Canva Sans"/>
                <a:ea typeface="Canva Sans"/>
                <a:cs typeface="Canva Sans"/>
                <a:sym typeface="Canva Sans"/>
              </a:rPr>
              <a:t>ervations_table</a:t>
            </a:r>
          </a:p>
          <a:p>
            <a:pPr algn="just" marL="537591" indent="-268796" lvl="1">
              <a:lnSpc>
                <a:spcPts val="3486"/>
              </a:lnSpc>
              <a:buFont typeface="Arial"/>
              <a:buChar char="•"/>
            </a:pPr>
            <a:r>
              <a:rPr lang="en-US" sz="2490">
                <a:solidFill>
                  <a:srgbClr val="000000"/>
                </a:solidFill>
                <a:latin typeface="Canva Sans"/>
                <a:ea typeface="Canva Sans"/>
                <a:cs typeface="Canva Sans"/>
                <a:sym typeface="Canva Sans"/>
              </a:rPr>
              <a:t>Stores guest booking information (guest_id, guest_name, contact, room_number, checkin_date, </a:t>
            </a:r>
          </a:p>
          <a:p>
            <a:pPr algn="just">
              <a:lnSpc>
                <a:spcPts val="3486"/>
              </a:lnSpc>
            </a:pPr>
            <a:r>
              <a:rPr lang="en-US" sz="2490">
                <a:solidFill>
                  <a:srgbClr val="000000"/>
                </a:solidFill>
                <a:latin typeface="Canva Sans"/>
                <a:ea typeface="Canva Sans"/>
                <a:cs typeface="Canva Sans"/>
                <a:sym typeface="Canva Sans"/>
              </a:rPr>
              <a:t>checkout_date, date_payment, status)</a:t>
            </a:r>
          </a:p>
          <a:p>
            <a:pPr algn="just" marL="537591" indent="-268796" lvl="1">
              <a:lnSpc>
                <a:spcPts val="3486"/>
              </a:lnSpc>
              <a:buFont typeface="Arial"/>
              <a:buChar char="•"/>
            </a:pPr>
            <a:r>
              <a:rPr lang="en-US" sz="2490">
                <a:solidFill>
                  <a:srgbClr val="000000"/>
                </a:solidFill>
                <a:latin typeface="Canva Sans"/>
                <a:ea typeface="Canva Sans"/>
                <a:cs typeface="Canva Sans"/>
                <a:sym typeface="Canva Sans"/>
              </a:rPr>
              <a:t>Foreign key relationship: room_number -&gt; rooms.room_number</a:t>
            </a:r>
          </a:p>
          <a:p>
            <a:pPr algn="just" marL="537591" indent="-268796" lvl="1">
              <a:lnSpc>
                <a:spcPts val="3486"/>
              </a:lnSpc>
              <a:buFont typeface="Arial"/>
              <a:buChar char="•"/>
            </a:pPr>
            <a:r>
              <a:rPr lang="en-US" sz="2490">
                <a:solidFill>
                  <a:srgbClr val="000000"/>
                </a:solidFill>
                <a:latin typeface="Canva Sans"/>
                <a:ea typeface="Canva Sans"/>
                <a:cs typeface="Canva Sans"/>
                <a:sym typeface="Canva Sans"/>
              </a:rPr>
              <a:t>Payments status values: paid, pending, cancelled</a:t>
            </a:r>
          </a:p>
          <a:p>
            <a:pPr algn="just" marL="537591" indent="-268796" lvl="1">
              <a:lnSpc>
                <a:spcPts val="3486"/>
              </a:lnSpc>
              <a:buFont typeface="Arial"/>
              <a:buChar char="•"/>
            </a:pPr>
            <a:r>
              <a:rPr lang="en-US" sz="2490">
                <a:solidFill>
                  <a:srgbClr val="000000"/>
                </a:solidFill>
                <a:latin typeface="Canva Sans"/>
                <a:ea typeface="Canva Sans"/>
                <a:cs typeface="Canva Sans"/>
                <a:sym typeface="Canva Sans"/>
              </a:rPr>
              <a:t>When reservation is created, associated room status changes to “Occupied”</a:t>
            </a:r>
          </a:p>
          <a:p>
            <a:pPr algn="just" marL="537591" indent="-268796" lvl="1">
              <a:lnSpc>
                <a:spcPts val="3486"/>
              </a:lnSpc>
              <a:buFont typeface="Arial"/>
              <a:buChar char="•"/>
            </a:pPr>
            <a:r>
              <a:rPr lang="en-US" sz="2490">
                <a:solidFill>
                  <a:srgbClr val="000000"/>
                </a:solidFill>
                <a:latin typeface="Canva Sans"/>
                <a:ea typeface="Canva Sans"/>
                <a:cs typeface="Canva Sans"/>
                <a:sym typeface="Canva Sans"/>
              </a:rPr>
              <a:t>When reservation is deleted, rooms status returns to “Available”</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F5F6F8"/>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
            <a:chOff x="0" y="0"/>
            <a:chExt cx="22991997" cy="1293300"/>
          </a:xfrm>
        </p:grpSpPr>
        <p:sp>
          <p:nvSpPr>
            <p:cNvPr name="Freeform 3" id="3"/>
            <p:cNvSpPr/>
            <p:nvPr/>
          </p:nvSpPr>
          <p:spPr>
            <a:xfrm flipH="false" flipV="false" rot="0">
              <a:off x="0" y="0"/>
              <a:ext cx="22991997" cy="1293300"/>
            </a:xfrm>
            <a:custGeom>
              <a:avLst/>
              <a:gdLst/>
              <a:ahLst/>
              <a:cxnLst/>
              <a:rect r="r" b="b" t="t" l="l"/>
              <a:pathLst>
                <a:path h="1293300" w="22991997">
                  <a:moveTo>
                    <a:pt x="0" y="0"/>
                  </a:moveTo>
                  <a:lnTo>
                    <a:pt x="22991997" y="0"/>
                  </a:lnTo>
                  <a:lnTo>
                    <a:pt x="22991997" y="1293300"/>
                  </a:lnTo>
                  <a:lnTo>
                    <a:pt x="0" y="1293300"/>
                  </a:lnTo>
                  <a:close/>
                </a:path>
              </a:pathLst>
            </a:custGeom>
            <a:solidFill>
              <a:srgbClr val="1067F4"/>
            </a:solidFill>
          </p:spPr>
        </p:sp>
      </p:grpSp>
      <p:sp>
        <p:nvSpPr>
          <p:cNvPr name="TextBox 4" id="4"/>
          <p:cNvSpPr txBox="true"/>
          <p:nvPr/>
        </p:nvSpPr>
        <p:spPr>
          <a:xfrm rot="0">
            <a:off x="380608" y="3175"/>
            <a:ext cx="6848808" cy="862330"/>
          </a:xfrm>
          <a:prstGeom prst="rect">
            <a:avLst/>
          </a:prstGeom>
        </p:spPr>
        <p:txBody>
          <a:bodyPr anchor="t" rtlCol="false" tIns="0" lIns="0" bIns="0" rIns="0">
            <a:spAutoFit/>
          </a:bodyPr>
          <a:lstStyle/>
          <a:p>
            <a:pPr algn="l">
              <a:lnSpc>
                <a:spcPts val="6019"/>
              </a:lnSpc>
            </a:pPr>
            <a:r>
              <a:rPr lang="en-US" sz="4299">
                <a:solidFill>
                  <a:srgbClr val="FFFFFF"/>
                </a:solidFill>
                <a:latin typeface="Rustic Printed"/>
                <a:ea typeface="Rustic Printed"/>
                <a:cs typeface="Rustic Printed"/>
                <a:sym typeface="Rustic Printed"/>
              </a:rPr>
              <a:t>Testing and Evaluation</a:t>
            </a:r>
          </a:p>
        </p:txBody>
      </p:sp>
      <p:sp>
        <p:nvSpPr>
          <p:cNvPr name="TextBox 5" id="5"/>
          <p:cNvSpPr txBox="true"/>
          <p:nvPr/>
        </p:nvSpPr>
        <p:spPr>
          <a:xfrm rot="0">
            <a:off x="750169" y="1930649"/>
            <a:ext cx="4194125" cy="663449"/>
          </a:xfrm>
          <a:prstGeom prst="rect">
            <a:avLst/>
          </a:prstGeom>
        </p:spPr>
        <p:txBody>
          <a:bodyPr anchor="t" rtlCol="false" tIns="0" lIns="0" bIns="0" rIns="0">
            <a:spAutoFit/>
          </a:bodyPr>
          <a:lstStyle/>
          <a:p>
            <a:pPr algn="l">
              <a:lnSpc>
                <a:spcPts val="5431"/>
              </a:lnSpc>
            </a:pPr>
            <a:r>
              <a:rPr lang="en-US" sz="3879" b="true">
                <a:solidFill>
                  <a:srgbClr val="000000"/>
                </a:solidFill>
                <a:latin typeface="Canva Sans Bold"/>
                <a:ea typeface="Canva Sans Bold"/>
                <a:cs typeface="Canva Sans Bold"/>
                <a:sym typeface="Canva Sans Bold"/>
              </a:rPr>
              <a:t>Testing Approach</a:t>
            </a:r>
          </a:p>
        </p:txBody>
      </p:sp>
      <p:sp>
        <p:nvSpPr>
          <p:cNvPr name="TextBox 6" id="6"/>
          <p:cNvSpPr txBox="true"/>
          <p:nvPr/>
        </p:nvSpPr>
        <p:spPr>
          <a:xfrm rot="0">
            <a:off x="1414066" y="2833792"/>
            <a:ext cx="14726072" cy="3986222"/>
          </a:xfrm>
          <a:prstGeom prst="rect">
            <a:avLst/>
          </a:prstGeom>
        </p:spPr>
        <p:txBody>
          <a:bodyPr anchor="t" rtlCol="false" tIns="0" lIns="0" bIns="0" rIns="0">
            <a:spAutoFit/>
          </a:bodyPr>
          <a:lstStyle/>
          <a:p>
            <a:pPr algn="just">
              <a:lnSpc>
                <a:spcPts val="5287"/>
              </a:lnSpc>
            </a:pPr>
            <a:r>
              <a:rPr lang="en-US" sz="3776">
                <a:solidFill>
                  <a:srgbClr val="000000"/>
                </a:solidFill>
                <a:latin typeface="Canva Sans"/>
                <a:ea typeface="Canva Sans"/>
                <a:cs typeface="Canva Sans"/>
                <a:sym typeface="Canva Sans"/>
              </a:rPr>
              <a:t>     The Staybook Hotel Management System was thoroughly tested to ensure all features work correctly, including login, room management, and reservations. Tests checked data accuracy, interface responsiveness, multi-user access, and real-time updates. Error scenarios and edge cases such invalid inputs and double bookings were simulated.</a:t>
            </a: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F5F6F8"/>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
            <a:chOff x="0" y="0"/>
            <a:chExt cx="22991997" cy="1293300"/>
          </a:xfrm>
        </p:grpSpPr>
        <p:sp>
          <p:nvSpPr>
            <p:cNvPr name="Freeform 3" id="3"/>
            <p:cNvSpPr/>
            <p:nvPr/>
          </p:nvSpPr>
          <p:spPr>
            <a:xfrm flipH="false" flipV="false" rot="0">
              <a:off x="0" y="0"/>
              <a:ext cx="22991997" cy="1293300"/>
            </a:xfrm>
            <a:custGeom>
              <a:avLst/>
              <a:gdLst/>
              <a:ahLst/>
              <a:cxnLst/>
              <a:rect r="r" b="b" t="t" l="l"/>
              <a:pathLst>
                <a:path h="1293300" w="22991997">
                  <a:moveTo>
                    <a:pt x="0" y="0"/>
                  </a:moveTo>
                  <a:lnTo>
                    <a:pt x="22991997" y="0"/>
                  </a:lnTo>
                  <a:lnTo>
                    <a:pt x="22991997" y="1293300"/>
                  </a:lnTo>
                  <a:lnTo>
                    <a:pt x="0" y="1293300"/>
                  </a:lnTo>
                  <a:close/>
                </a:path>
              </a:pathLst>
            </a:custGeom>
            <a:solidFill>
              <a:srgbClr val="1067F4"/>
            </a:solidFill>
          </p:spPr>
        </p:sp>
      </p:grpSp>
      <p:sp>
        <p:nvSpPr>
          <p:cNvPr name="TextBox 4" id="4"/>
          <p:cNvSpPr txBox="true"/>
          <p:nvPr/>
        </p:nvSpPr>
        <p:spPr>
          <a:xfrm rot="0">
            <a:off x="380608" y="3175"/>
            <a:ext cx="6848808" cy="862330"/>
          </a:xfrm>
          <a:prstGeom prst="rect">
            <a:avLst/>
          </a:prstGeom>
        </p:spPr>
        <p:txBody>
          <a:bodyPr anchor="t" rtlCol="false" tIns="0" lIns="0" bIns="0" rIns="0">
            <a:spAutoFit/>
          </a:bodyPr>
          <a:lstStyle/>
          <a:p>
            <a:pPr algn="l">
              <a:lnSpc>
                <a:spcPts val="6019"/>
              </a:lnSpc>
            </a:pPr>
            <a:r>
              <a:rPr lang="en-US" sz="4299">
                <a:solidFill>
                  <a:srgbClr val="FFFFFF"/>
                </a:solidFill>
                <a:latin typeface="Rustic Printed"/>
                <a:ea typeface="Rustic Printed"/>
                <a:cs typeface="Rustic Printed"/>
                <a:sym typeface="Rustic Printed"/>
              </a:rPr>
              <a:t>Testing and Evaluation</a:t>
            </a:r>
          </a:p>
        </p:txBody>
      </p:sp>
      <p:sp>
        <p:nvSpPr>
          <p:cNvPr name="TextBox 5" id="5"/>
          <p:cNvSpPr txBox="true"/>
          <p:nvPr/>
        </p:nvSpPr>
        <p:spPr>
          <a:xfrm rot="0">
            <a:off x="1028700" y="2017467"/>
            <a:ext cx="16230600" cy="7556373"/>
          </a:xfrm>
          <a:prstGeom prst="rect">
            <a:avLst/>
          </a:prstGeom>
        </p:spPr>
        <p:txBody>
          <a:bodyPr anchor="t" rtlCol="false" tIns="0" lIns="0" bIns="0" rIns="0">
            <a:spAutoFit/>
          </a:bodyPr>
          <a:lstStyle/>
          <a:p>
            <a:pPr algn="just" marL="621790" indent="-310895" lvl="1">
              <a:lnSpc>
                <a:spcPts val="4031"/>
              </a:lnSpc>
              <a:buAutoNum type="arabicPeriod" startAt="1"/>
            </a:pPr>
            <a:r>
              <a:rPr lang="en-US" b="true" sz="2879">
                <a:solidFill>
                  <a:srgbClr val="000000"/>
                </a:solidFill>
                <a:latin typeface="Canva Sans Bold"/>
                <a:ea typeface="Canva Sans Bold"/>
                <a:cs typeface="Canva Sans Bold"/>
                <a:sym typeface="Canva Sans Bold"/>
              </a:rPr>
              <a:t>Ic</a:t>
            </a:r>
            <a:r>
              <a:rPr lang="en-US" b="true" sz="2879">
                <a:solidFill>
                  <a:srgbClr val="000000"/>
                </a:solidFill>
                <a:latin typeface="Canva Sans Bold"/>
                <a:ea typeface="Canva Sans Bold"/>
                <a:cs typeface="Canva Sans Bold"/>
                <a:sym typeface="Canva Sans Bold"/>
              </a:rPr>
              <a:t>ons/Logos not displaying</a:t>
            </a:r>
          </a:p>
          <a:p>
            <a:pPr algn="just" marL="1243581" indent="-414527" lvl="2">
              <a:lnSpc>
                <a:spcPts val="4031"/>
              </a:lnSpc>
              <a:buAutoNum type="alphaLcPeriod" startAt="1"/>
            </a:pPr>
            <a:r>
              <a:rPr lang="en-US" sz="2879">
                <a:solidFill>
                  <a:srgbClr val="000000"/>
                </a:solidFill>
                <a:latin typeface="Canva Sans"/>
                <a:ea typeface="Canva Sans"/>
                <a:cs typeface="Canva Sans"/>
                <a:sym typeface="Canva Sans"/>
              </a:rPr>
              <a:t>Images disappeared after converting .ui to .py file with pyuic6 because paths broke during conversion</a:t>
            </a:r>
          </a:p>
          <a:p>
            <a:pPr algn="just" marL="1865371" indent="-466343" lvl="3">
              <a:lnSpc>
                <a:spcPts val="4031"/>
              </a:lnSpc>
              <a:buAutoNum type="romanLcPeriod" startAt="1"/>
            </a:pPr>
            <a:r>
              <a:rPr lang="en-US" sz="2879">
                <a:solidFill>
                  <a:srgbClr val="000000"/>
                </a:solidFill>
                <a:latin typeface="Canva Sans"/>
                <a:ea typeface="Canva Sans"/>
                <a:cs typeface="Canva Sans"/>
                <a:sym typeface="Canva Sans"/>
              </a:rPr>
              <a:t>Moved all image loading to backend Python files using QPixmap() and QIcon() instead of defining them in Qt Designer</a:t>
            </a:r>
          </a:p>
          <a:p>
            <a:pPr algn="just" marL="621790" indent="-310895" lvl="1">
              <a:lnSpc>
                <a:spcPts val="4031"/>
              </a:lnSpc>
              <a:buAutoNum type="arabicPeriod" startAt="1"/>
            </a:pPr>
            <a:r>
              <a:rPr lang="en-US" b="true" sz="2879">
                <a:solidFill>
                  <a:srgbClr val="000000"/>
                </a:solidFill>
                <a:latin typeface="Canva Sans Bold"/>
                <a:ea typeface="Canva Sans Bold"/>
                <a:cs typeface="Canva Sans Bold"/>
                <a:sym typeface="Canva Sans Bold"/>
              </a:rPr>
              <a:t>Table Data Not Showing on Login</a:t>
            </a:r>
          </a:p>
          <a:p>
            <a:pPr algn="just" marL="1243581" indent="-414527" lvl="2">
              <a:lnSpc>
                <a:spcPts val="4031"/>
              </a:lnSpc>
              <a:buAutoNum type="alphaLcPeriod" startAt="1"/>
            </a:pPr>
            <a:r>
              <a:rPr lang="en-US" sz="2879">
                <a:solidFill>
                  <a:srgbClr val="000000"/>
                </a:solidFill>
                <a:latin typeface="Canva Sans"/>
                <a:ea typeface="Canva Sans"/>
                <a:cs typeface="Canva Sans"/>
                <a:sym typeface="Canva Sans"/>
              </a:rPr>
              <a:t>Tables appeared empty when logging back in, even though data existed in database. Data only showed after inserting new records</a:t>
            </a:r>
          </a:p>
          <a:p>
            <a:pPr algn="just" marL="1865371" indent="-466343" lvl="3">
              <a:lnSpc>
                <a:spcPts val="4031"/>
              </a:lnSpc>
              <a:buAutoNum type="romanLcPeriod" startAt="1"/>
            </a:pPr>
            <a:r>
              <a:rPr lang="en-US" sz="2879">
                <a:solidFill>
                  <a:srgbClr val="000000"/>
                </a:solidFill>
                <a:latin typeface="Canva Sans"/>
                <a:ea typeface="Canva Sans"/>
                <a:cs typeface="Canva Sans"/>
                <a:sym typeface="Canva Sans"/>
              </a:rPr>
              <a:t>Added display_rooms() and display_reservations() calls to navigation methods (showRooms(), showReserve()) to load data when switching views</a:t>
            </a:r>
          </a:p>
          <a:p>
            <a:pPr algn="just" marL="621790" indent="-310895" lvl="1">
              <a:lnSpc>
                <a:spcPts val="4031"/>
              </a:lnSpc>
              <a:buAutoNum type="arabicPeriod" startAt="1"/>
            </a:pPr>
            <a:r>
              <a:rPr lang="en-US" b="true" sz="2879">
                <a:solidFill>
                  <a:srgbClr val="000000"/>
                </a:solidFill>
                <a:latin typeface="Canva Sans Bold"/>
                <a:ea typeface="Canva Sans Bold"/>
                <a:cs typeface="Canva Sans Bold"/>
                <a:sym typeface="Canva Sans Bold"/>
              </a:rPr>
              <a:t>Room Status Not Saving</a:t>
            </a:r>
          </a:p>
          <a:p>
            <a:pPr algn="just" marL="1243581" indent="-414527" lvl="2">
              <a:lnSpc>
                <a:spcPts val="4031"/>
              </a:lnSpc>
              <a:buAutoNum type="alphaLcPeriod" startAt="1"/>
            </a:pPr>
            <a:r>
              <a:rPr lang="en-US" sz="2879">
                <a:solidFill>
                  <a:srgbClr val="000000"/>
                </a:solidFill>
                <a:latin typeface="Canva Sans"/>
                <a:ea typeface="Canva Sans"/>
                <a:cs typeface="Canva Sans"/>
                <a:sym typeface="Canva Sans"/>
              </a:rPr>
              <a:t>Selected status (e.g., "Maintenance") was ignored, rooms always saved with "Available" status</a:t>
            </a:r>
          </a:p>
          <a:p>
            <a:pPr algn="just" marL="1865371" indent="-466343" lvl="3">
              <a:lnSpc>
                <a:spcPts val="4031"/>
              </a:lnSpc>
              <a:buAutoNum type="romanLcPeriod" startAt="1"/>
            </a:pPr>
            <a:r>
              <a:rPr lang="en-US" sz="2879">
                <a:solidFill>
                  <a:srgbClr val="000000"/>
                </a:solidFill>
                <a:latin typeface="Canva Sans"/>
                <a:ea typeface="Canva Sans"/>
                <a:cs typeface="Canva Sans"/>
                <a:sym typeface="Canva Sans"/>
              </a:rPr>
              <a:t>Updated SQL INSERT statement to include status column and passed status value from dropdown to add_room() method</a:t>
            </a:r>
          </a:p>
        </p:txBody>
      </p:sp>
      <p:sp>
        <p:nvSpPr>
          <p:cNvPr name="TextBox 6" id="6"/>
          <p:cNvSpPr txBox="true"/>
          <p:nvPr/>
        </p:nvSpPr>
        <p:spPr>
          <a:xfrm rot="0">
            <a:off x="618709" y="1433050"/>
            <a:ext cx="6610708" cy="488823"/>
          </a:xfrm>
          <a:prstGeom prst="rect">
            <a:avLst/>
          </a:prstGeom>
        </p:spPr>
        <p:txBody>
          <a:bodyPr anchor="t" rtlCol="false" tIns="0" lIns="0" bIns="0" rIns="0">
            <a:spAutoFit/>
          </a:bodyPr>
          <a:lstStyle/>
          <a:p>
            <a:pPr algn="l">
              <a:lnSpc>
                <a:spcPts val="4031"/>
              </a:lnSpc>
            </a:pPr>
            <a:r>
              <a:rPr lang="en-US" sz="2879" b="true">
                <a:solidFill>
                  <a:srgbClr val="000000"/>
                </a:solidFill>
                <a:latin typeface="Canva Sans Bold"/>
                <a:ea typeface="Canva Sans Bold"/>
                <a:cs typeface="Canva Sans Bold"/>
                <a:sym typeface="Canva Sans Bold"/>
              </a:rPr>
              <a:t>Issues Encountered and Fixes</a:t>
            </a: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F5F6F8"/>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
            <a:chOff x="0" y="0"/>
            <a:chExt cx="22991997" cy="1293300"/>
          </a:xfrm>
        </p:grpSpPr>
        <p:sp>
          <p:nvSpPr>
            <p:cNvPr name="Freeform 3" id="3"/>
            <p:cNvSpPr/>
            <p:nvPr/>
          </p:nvSpPr>
          <p:spPr>
            <a:xfrm flipH="false" flipV="false" rot="0">
              <a:off x="0" y="0"/>
              <a:ext cx="22991997" cy="1293300"/>
            </a:xfrm>
            <a:custGeom>
              <a:avLst/>
              <a:gdLst/>
              <a:ahLst/>
              <a:cxnLst/>
              <a:rect r="r" b="b" t="t" l="l"/>
              <a:pathLst>
                <a:path h="1293300" w="22991997">
                  <a:moveTo>
                    <a:pt x="0" y="0"/>
                  </a:moveTo>
                  <a:lnTo>
                    <a:pt x="22991997" y="0"/>
                  </a:lnTo>
                  <a:lnTo>
                    <a:pt x="22991997" y="1293300"/>
                  </a:lnTo>
                  <a:lnTo>
                    <a:pt x="0" y="1293300"/>
                  </a:lnTo>
                  <a:close/>
                </a:path>
              </a:pathLst>
            </a:custGeom>
            <a:solidFill>
              <a:srgbClr val="1067F4"/>
            </a:solidFill>
          </p:spPr>
        </p:sp>
      </p:grpSp>
      <p:sp>
        <p:nvSpPr>
          <p:cNvPr name="TextBox 4" id="4"/>
          <p:cNvSpPr txBox="true"/>
          <p:nvPr/>
        </p:nvSpPr>
        <p:spPr>
          <a:xfrm rot="0">
            <a:off x="380608" y="3175"/>
            <a:ext cx="6848808" cy="862330"/>
          </a:xfrm>
          <a:prstGeom prst="rect">
            <a:avLst/>
          </a:prstGeom>
        </p:spPr>
        <p:txBody>
          <a:bodyPr anchor="t" rtlCol="false" tIns="0" lIns="0" bIns="0" rIns="0">
            <a:spAutoFit/>
          </a:bodyPr>
          <a:lstStyle/>
          <a:p>
            <a:pPr algn="l">
              <a:lnSpc>
                <a:spcPts val="6019"/>
              </a:lnSpc>
            </a:pPr>
            <a:r>
              <a:rPr lang="en-US" sz="4299">
                <a:solidFill>
                  <a:srgbClr val="FFFFFF"/>
                </a:solidFill>
                <a:latin typeface="Rustic Printed"/>
                <a:ea typeface="Rustic Printed"/>
                <a:cs typeface="Rustic Printed"/>
                <a:sym typeface="Rustic Printed"/>
              </a:rPr>
              <a:t>Testing and Evaluation</a:t>
            </a:r>
          </a:p>
        </p:txBody>
      </p:sp>
      <p:sp>
        <p:nvSpPr>
          <p:cNvPr name="TextBox 5" id="5"/>
          <p:cNvSpPr txBox="true"/>
          <p:nvPr/>
        </p:nvSpPr>
        <p:spPr>
          <a:xfrm rot="0">
            <a:off x="1028700" y="2017467"/>
            <a:ext cx="16230600" cy="6041898"/>
          </a:xfrm>
          <a:prstGeom prst="rect">
            <a:avLst/>
          </a:prstGeom>
        </p:spPr>
        <p:txBody>
          <a:bodyPr anchor="t" rtlCol="false" tIns="0" lIns="0" bIns="0" rIns="0">
            <a:spAutoFit/>
          </a:bodyPr>
          <a:lstStyle/>
          <a:p>
            <a:pPr algn="just" marL="621790" indent="-310895" lvl="1">
              <a:lnSpc>
                <a:spcPts val="4031"/>
              </a:lnSpc>
              <a:buAutoNum type="arabicPeriod" startAt="1"/>
            </a:pPr>
            <a:r>
              <a:rPr lang="en-US" b="true" sz="2879">
                <a:solidFill>
                  <a:srgbClr val="000000"/>
                </a:solidFill>
                <a:latin typeface="Canva Sans Bold"/>
                <a:ea typeface="Canva Sans Bold"/>
                <a:cs typeface="Canva Sans Bold"/>
                <a:sym typeface="Canva Sans Bold"/>
              </a:rPr>
              <a:t>Searc</a:t>
            </a:r>
            <a:r>
              <a:rPr lang="en-US" b="true" sz="2879">
                <a:solidFill>
                  <a:srgbClr val="000000"/>
                </a:solidFill>
                <a:latin typeface="Canva Sans Bold"/>
                <a:ea typeface="Canva Sans Bold"/>
                <a:cs typeface="Canva Sans Bold"/>
                <a:sym typeface="Canva Sans Bold"/>
              </a:rPr>
              <a:t>h Clear</a:t>
            </a:r>
            <a:r>
              <a:rPr lang="en-US" b="true" sz="2879">
                <a:solidFill>
                  <a:srgbClr val="000000"/>
                </a:solidFill>
                <a:latin typeface="Canva Sans Bold"/>
                <a:ea typeface="Canva Sans Bold"/>
                <a:cs typeface="Canva Sans Bold"/>
                <a:sym typeface="Canva Sans Bold"/>
              </a:rPr>
              <a:t>ing Tables</a:t>
            </a:r>
          </a:p>
          <a:p>
            <a:pPr algn="just" marL="1243581" indent="-414527" lvl="2">
              <a:lnSpc>
                <a:spcPts val="4031"/>
              </a:lnSpc>
              <a:buAutoNum type="alphaLcPeriod" startAt="1"/>
            </a:pPr>
            <a:r>
              <a:rPr lang="en-US" sz="2879">
                <a:solidFill>
                  <a:srgbClr val="000000"/>
                </a:solidFill>
                <a:latin typeface="Canva Sans"/>
                <a:ea typeface="Canva Sans"/>
                <a:cs typeface="Canva Sans"/>
                <a:sym typeface="Canva Sans"/>
              </a:rPr>
              <a:t>Typing in search field cleared tables permanently; filtered results didn't appear and data didn't return when clearing search</a:t>
            </a:r>
          </a:p>
          <a:p>
            <a:pPr algn="just" marL="1865371" indent="-466343" lvl="3">
              <a:lnSpc>
                <a:spcPts val="4031"/>
              </a:lnSpc>
              <a:buAutoNum type="romanLcPeriod" startAt="1"/>
            </a:pPr>
            <a:r>
              <a:rPr lang="en-US" sz="2879">
                <a:solidFill>
                  <a:srgbClr val="000000"/>
                </a:solidFill>
                <a:latin typeface="Canva Sans"/>
                <a:ea typeface="Canva Sans"/>
                <a:cs typeface="Canva Sans"/>
                <a:sym typeface="Canva Sans"/>
              </a:rPr>
              <a:t>Implemented two-stage approach: stored all data in self.all_rooms/self.all_reservations, then filtered in-memory data without losing original dataset</a:t>
            </a:r>
          </a:p>
          <a:p>
            <a:pPr algn="just" marL="621790" indent="-310895" lvl="1">
              <a:lnSpc>
                <a:spcPts val="4031"/>
              </a:lnSpc>
              <a:buAutoNum type="arabicPeriod" startAt="1"/>
            </a:pPr>
            <a:r>
              <a:rPr lang="en-US" b="true" sz="2879">
                <a:solidFill>
                  <a:srgbClr val="000000"/>
                </a:solidFill>
                <a:latin typeface="Canva Sans Bold"/>
                <a:ea typeface="Canva Sans Bold"/>
                <a:cs typeface="Canva Sans Bold"/>
                <a:sym typeface="Canva Sans Bold"/>
              </a:rPr>
              <a:t>Branch Database Not Deleting</a:t>
            </a:r>
          </a:p>
          <a:p>
            <a:pPr algn="just" marL="1243581" indent="-414527" lvl="2">
              <a:lnSpc>
                <a:spcPts val="4031"/>
              </a:lnSpc>
              <a:buAutoNum type="alphaLcPeriod" startAt="1"/>
            </a:pPr>
            <a:r>
              <a:rPr lang="en-US" sz="2879">
                <a:solidFill>
                  <a:srgbClr val="000000"/>
                </a:solidFill>
                <a:latin typeface="Canva Sans"/>
                <a:ea typeface="Canva Sans"/>
                <a:cs typeface="Canva Sans"/>
                <a:sym typeface="Canva Sans"/>
              </a:rPr>
              <a:t>When admin deleted a branch account, the database file wasn't removed because self.username contained "Administrator" instead of the branch's actual username</a:t>
            </a:r>
          </a:p>
          <a:p>
            <a:pPr algn="just" marL="1865371" indent="-466343" lvl="3">
              <a:lnSpc>
                <a:spcPts val="4031"/>
              </a:lnSpc>
              <a:buAutoNum type="romanLcPeriod" startAt="1"/>
            </a:pPr>
            <a:r>
              <a:rPr lang="en-US" sz="2879">
                <a:solidFill>
                  <a:srgbClr val="000000"/>
                </a:solidFill>
                <a:latin typeface="Canva Sans"/>
                <a:ea typeface="Canva Sans"/>
                <a:cs typeface="Canva Sans"/>
                <a:sym typeface="Canva Sans"/>
              </a:rPr>
              <a:t>Retrieved branch data before deletion using get_branch_by_id() to get actual username: branch_username = branch['username'], then constructed correct path: f"branch_database/{branch_username}.db"</a:t>
            </a:r>
          </a:p>
        </p:txBody>
      </p:sp>
      <p:sp>
        <p:nvSpPr>
          <p:cNvPr name="TextBox 6" id="6"/>
          <p:cNvSpPr txBox="true"/>
          <p:nvPr/>
        </p:nvSpPr>
        <p:spPr>
          <a:xfrm rot="0">
            <a:off x="618709" y="1433050"/>
            <a:ext cx="6610708" cy="488823"/>
          </a:xfrm>
          <a:prstGeom prst="rect">
            <a:avLst/>
          </a:prstGeom>
        </p:spPr>
        <p:txBody>
          <a:bodyPr anchor="t" rtlCol="false" tIns="0" lIns="0" bIns="0" rIns="0">
            <a:spAutoFit/>
          </a:bodyPr>
          <a:lstStyle/>
          <a:p>
            <a:pPr algn="l">
              <a:lnSpc>
                <a:spcPts val="4031"/>
              </a:lnSpc>
            </a:pPr>
            <a:r>
              <a:rPr lang="en-US" sz="2879" b="true">
                <a:solidFill>
                  <a:srgbClr val="000000"/>
                </a:solidFill>
                <a:latin typeface="Canva Sans Bold"/>
                <a:ea typeface="Canva Sans Bold"/>
                <a:cs typeface="Canva Sans Bold"/>
                <a:sym typeface="Canva Sans Bold"/>
              </a:rPr>
              <a:t>Issues Encountered and Fixes</a:t>
            </a: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F5F6F8"/>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
            <a:chOff x="0" y="0"/>
            <a:chExt cx="22991997" cy="1293300"/>
          </a:xfrm>
        </p:grpSpPr>
        <p:sp>
          <p:nvSpPr>
            <p:cNvPr name="Freeform 3" id="3"/>
            <p:cNvSpPr/>
            <p:nvPr/>
          </p:nvSpPr>
          <p:spPr>
            <a:xfrm flipH="false" flipV="false" rot="0">
              <a:off x="0" y="0"/>
              <a:ext cx="22991997" cy="1293300"/>
            </a:xfrm>
            <a:custGeom>
              <a:avLst/>
              <a:gdLst/>
              <a:ahLst/>
              <a:cxnLst/>
              <a:rect r="r" b="b" t="t" l="l"/>
              <a:pathLst>
                <a:path h="1293300" w="22991997">
                  <a:moveTo>
                    <a:pt x="0" y="0"/>
                  </a:moveTo>
                  <a:lnTo>
                    <a:pt x="22991997" y="0"/>
                  </a:lnTo>
                  <a:lnTo>
                    <a:pt x="22991997" y="1293300"/>
                  </a:lnTo>
                  <a:lnTo>
                    <a:pt x="0" y="1293300"/>
                  </a:lnTo>
                  <a:close/>
                </a:path>
              </a:pathLst>
            </a:custGeom>
            <a:solidFill>
              <a:srgbClr val="1067F4"/>
            </a:solidFill>
          </p:spPr>
        </p:sp>
      </p:grpSp>
      <p:sp>
        <p:nvSpPr>
          <p:cNvPr name="TextBox 4" id="4"/>
          <p:cNvSpPr txBox="true"/>
          <p:nvPr/>
        </p:nvSpPr>
        <p:spPr>
          <a:xfrm rot="0">
            <a:off x="380608" y="3175"/>
            <a:ext cx="6848808" cy="862330"/>
          </a:xfrm>
          <a:prstGeom prst="rect">
            <a:avLst/>
          </a:prstGeom>
        </p:spPr>
        <p:txBody>
          <a:bodyPr anchor="t" rtlCol="false" tIns="0" lIns="0" bIns="0" rIns="0">
            <a:spAutoFit/>
          </a:bodyPr>
          <a:lstStyle/>
          <a:p>
            <a:pPr algn="l">
              <a:lnSpc>
                <a:spcPts val="6019"/>
              </a:lnSpc>
            </a:pPr>
            <a:r>
              <a:rPr lang="en-US" sz="4299">
                <a:solidFill>
                  <a:srgbClr val="FFFFFF"/>
                </a:solidFill>
                <a:latin typeface="Rustic Printed"/>
                <a:ea typeface="Rustic Printed"/>
                <a:cs typeface="Rustic Printed"/>
                <a:sym typeface="Rustic Printed"/>
              </a:rPr>
              <a:t>Summary and Recommendations</a:t>
            </a:r>
          </a:p>
        </p:txBody>
      </p:sp>
      <p:sp>
        <p:nvSpPr>
          <p:cNvPr name="TextBox 5" id="5"/>
          <p:cNvSpPr txBox="true"/>
          <p:nvPr/>
        </p:nvSpPr>
        <p:spPr>
          <a:xfrm rot="0">
            <a:off x="1028700" y="2341054"/>
            <a:ext cx="1708845" cy="488823"/>
          </a:xfrm>
          <a:prstGeom prst="rect">
            <a:avLst/>
          </a:prstGeom>
        </p:spPr>
        <p:txBody>
          <a:bodyPr anchor="t" rtlCol="false" tIns="0" lIns="0" bIns="0" rIns="0">
            <a:spAutoFit/>
          </a:bodyPr>
          <a:lstStyle/>
          <a:p>
            <a:pPr algn="l">
              <a:lnSpc>
                <a:spcPts val="4031"/>
              </a:lnSpc>
            </a:pPr>
            <a:r>
              <a:rPr lang="en-US" sz="2879" b="true">
                <a:solidFill>
                  <a:srgbClr val="000000"/>
                </a:solidFill>
                <a:latin typeface="Canva Sans Bold"/>
                <a:ea typeface="Canva Sans Bold"/>
                <a:cs typeface="Canva Sans Bold"/>
                <a:sym typeface="Canva Sans Bold"/>
              </a:rPr>
              <a:t>Summary</a:t>
            </a:r>
          </a:p>
        </p:txBody>
      </p:sp>
      <p:sp>
        <p:nvSpPr>
          <p:cNvPr name="TextBox 6" id="6"/>
          <p:cNvSpPr txBox="true"/>
          <p:nvPr/>
        </p:nvSpPr>
        <p:spPr>
          <a:xfrm rot="0">
            <a:off x="1395430" y="3122856"/>
            <a:ext cx="14726072" cy="5537073"/>
          </a:xfrm>
          <a:prstGeom prst="rect">
            <a:avLst/>
          </a:prstGeom>
        </p:spPr>
        <p:txBody>
          <a:bodyPr anchor="t" rtlCol="false" tIns="0" lIns="0" bIns="0" rIns="0">
            <a:spAutoFit/>
          </a:bodyPr>
          <a:lstStyle/>
          <a:p>
            <a:pPr algn="just">
              <a:lnSpc>
                <a:spcPts val="4031"/>
              </a:lnSpc>
            </a:pPr>
            <a:r>
              <a:rPr lang="en-US" sz="2879">
                <a:solidFill>
                  <a:srgbClr val="000000"/>
                </a:solidFill>
                <a:latin typeface="Canva Sans"/>
                <a:ea typeface="Canva Sans"/>
                <a:cs typeface="Canva Sans"/>
                <a:sym typeface="Canva Sans"/>
              </a:rPr>
              <a:t>     The Staybook Hotel Management System helps make hotel work easier. It organizes rooms, bookings, guests, in daily tasks so staff can do their jobs faster. Admins manage all hotel branches, while managers taker of check-in’s, check-out’s, and updating room status. The system keeps all information safe, organized, and easy to find.</a:t>
            </a:r>
          </a:p>
          <a:p>
            <a:pPr algn="just">
              <a:lnSpc>
                <a:spcPts val="4031"/>
              </a:lnSpc>
            </a:pPr>
          </a:p>
          <a:p>
            <a:pPr algn="just">
              <a:lnSpc>
                <a:spcPts val="4031"/>
              </a:lnSpc>
            </a:pPr>
            <a:r>
              <a:rPr lang="en-US" sz="2879">
                <a:solidFill>
                  <a:srgbClr val="000000"/>
                </a:solidFill>
                <a:latin typeface="Canva Sans"/>
                <a:ea typeface="Canva Sans"/>
                <a:cs typeface="Canva Sans"/>
                <a:sym typeface="Canva Sans"/>
              </a:rPr>
              <a:t>Main Features</a:t>
            </a:r>
          </a:p>
          <a:p>
            <a:pPr algn="just" marL="621790" indent="-310895" lvl="1">
              <a:lnSpc>
                <a:spcPts val="4031"/>
              </a:lnSpc>
              <a:buFont typeface="Arial"/>
              <a:buChar char="•"/>
            </a:pPr>
            <a:r>
              <a:rPr lang="en-US" sz="2879">
                <a:solidFill>
                  <a:srgbClr val="000000"/>
                </a:solidFill>
                <a:latin typeface="Canva Sans"/>
                <a:ea typeface="Canva Sans"/>
                <a:cs typeface="Canva Sans"/>
                <a:sym typeface="Canva Sans"/>
              </a:rPr>
              <a:t>Different access levels for admins and managers</a:t>
            </a:r>
          </a:p>
          <a:p>
            <a:pPr algn="just" marL="621790" indent="-310895" lvl="1">
              <a:lnSpc>
                <a:spcPts val="4031"/>
              </a:lnSpc>
              <a:buFont typeface="Arial"/>
              <a:buChar char="•"/>
            </a:pPr>
            <a:r>
              <a:rPr lang="en-US" sz="2879">
                <a:solidFill>
                  <a:srgbClr val="000000"/>
                </a:solidFill>
                <a:latin typeface="Canva Sans"/>
                <a:ea typeface="Canva Sans"/>
                <a:cs typeface="Canva Sans"/>
                <a:sym typeface="Canva Sans"/>
              </a:rPr>
              <a:t>Easy tools for managing rooms and reservations</a:t>
            </a:r>
          </a:p>
          <a:p>
            <a:pPr algn="just" marL="621790" indent="-310895" lvl="1">
              <a:lnSpc>
                <a:spcPts val="4031"/>
              </a:lnSpc>
              <a:buFont typeface="Arial"/>
              <a:buChar char="•"/>
            </a:pPr>
            <a:r>
              <a:rPr lang="en-US" sz="2879">
                <a:solidFill>
                  <a:srgbClr val="000000"/>
                </a:solidFill>
                <a:latin typeface="Canva Sans"/>
                <a:ea typeface="Canva Sans"/>
                <a:cs typeface="Canva Sans"/>
                <a:sym typeface="Canva Sans"/>
              </a:rPr>
              <a:t>Branch and account management in one system</a:t>
            </a:r>
          </a:p>
          <a:p>
            <a:pPr algn="just" marL="621790" indent="-310895" lvl="1">
              <a:lnSpc>
                <a:spcPts val="4031"/>
              </a:lnSpc>
              <a:buFont typeface="Arial"/>
              <a:buChar char="•"/>
            </a:pPr>
            <a:r>
              <a:rPr lang="en-US" sz="2879">
                <a:solidFill>
                  <a:srgbClr val="000000"/>
                </a:solidFill>
                <a:latin typeface="Canva Sans"/>
                <a:ea typeface="Canva Sans"/>
                <a:cs typeface="Canva Sans"/>
                <a:sym typeface="Canva Sans"/>
              </a:rPr>
              <a:t>Color coded indicators to quickly see room status</a:t>
            </a:r>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F5F6F8"/>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
            <a:chOff x="0" y="0"/>
            <a:chExt cx="22991997" cy="1293300"/>
          </a:xfrm>
        </p:grpSpPr>
        <p:sp>
          <p:nvSpPr>
            <p:cNvPr name="Freeform 3" id="3"/>
            <p:cNvSpPr/>
            <p:nvPr/>
          </p:nvSpPr>
          <p:spPr>
            <a:xfrm flipH="false" flipV="false" rot="0">
              <a:off x="0" y="0"/>
              <a:ext cx="22991997" cy="1293300"/>
            </a:xfrm>
            <a:custGeom>
              <a:avLst/>
              <a:gdLst/>
              <a:ahLst/>
              <a:cxnLst/>
              <a:rect r="r" b="b" t="t" l="l"/>
              <a:pathLst>
                <a:path h="1293300" w="22991997">
                  <a:moveTo>
                    <a:pt x="0" y="0"/>
                  </a:moveTo>
                  <a:lnTo>
                    <a:pt x="22991997" y="0"/>
                  </a:lnTo>
                  <a:lnTo>
                    <a:pt x="22991997" y="1293300"/>
                  </a:lnTo>
                  <a:lnTo>
                    <a:pt x="0" y="1293300"/>
                  </a:lnTo>
                  <a:close/>
                </a:path>
              </a:pathLst>
            </a:custGeom>
            <a:solidFill>
              <a:srgbClr val="1067F4"/>
            </a:solidFill>
          </p:spPr>
        </p:sp>
      </p:grpSp>
      <p:sp>
        <p:nvSpPr>
          <p:cNvPr name="TextBox 4" id="4"/>
          <p:cNvSpPr txBox="true"/>
          <p:nvPr/>
        </p:nvSpPr>
        <p:spPr>
          <a:xfrm rot="0">
            <a:off x="380608" y="3175"/>
            <a:ext cx="6848808" cy="862330"/>
          </a:xfrm>
          <a:prstGeom prst="rect">
            <a:avLst/>
          </a:prstGeom>
        </p:spPr>
        <p:txBody>
          <a:bodyPr anchor="t" rtlCol="false" tIns="0" lIns="0" bIns="0" rIns="0">
            <a:spAutoFit/>
          </a:bodyPr>
          <a:lstStyle/>
          <a:p>
            <a:pPr algn="l">
              <a:lnSpc>
                <a:spcPts val="6019"/>
              </a:lnSpc>
            </a:pPr>
            <a:r>
              <a:rPr lang="en-US" sz="4299">
                <a:solidFill>
                  <a:srgbClr val="FFFFFF"/>
                </a:solidFill>
                <a:latin typeface="Rustic Printed"/>
                <a:ea typeface="Rustic Printed"/>
                <a:cs typeface="Rustic Printed"/>
                <a:sym typeface="Rustic Printed"/>
              </a:rPr>
              <a:t>Summary and Recommendations</a:t>
            </a:r>
          </a:p>
        </p:txBody>
      </p:sp>
      <p:sp>
        <p:nvSpPr>
          <p:cNvPr name="TextBox 5" id="5"/>
          <p:cNvSpPr txBox="true"/>
          <p:nvPr/>
        </p:nvSpPr>
        <p:spPr>
          <a:xfrm rot="0">
            <a:off x="1028700" y="2341054"/>
            <a:ext cx="2006203" cy="488823"/>
          </a:xfrm>
          <a:prstGeom prst="rect">
            <a:avLst/>
          </a:prstGeom>
        </p:spPr>
        <p:txBody>
          <a:bodyPr anchor="t" rtlCol="false" tIns="0" lIns="0" bIns="0" rIns="0">
            <a:spAutoFit/>
          </a:bodyPr>
          <a:lstStyle/>
          <a:p>
            <a:pPr algn="l">
              <a:lnSpc>
                <a:spcPts val="4031"/>
              </a:lnSpc>
            </a:pPr>
            <a:r>
              <a:rPr lang="en-US" sz="2879" b="true">
                <a:solidFill>
                  <a:srgbClr val="000000"/>
                </a:solidFill>
                <a:latin typeface="Canva Sans Bold"/>
                <a:ea typeface="Canva Sans Bold"/>
                <a:cs typeface="Canva Sans Bold"/>
                <a:sym typeface="Canva Sans Bold"/>
              </a:rPr>
              <a:t>Conclusion</a:t>
            </a:r>
          </a:p>
        </p:txBody>
      </p:sp>
      <p:sp>
        <p:nvSpPr>
          <p:cNvPr name="TextBox 6" id="6"/>
          <p:cNvSpPr txBox="true"/>
          <p:nvPr/>
        </p:nvSpPr>
        <p:spPr>
          <a:xfrm rot="0">
            <a:off x="1395430" y="3122856"/>
            <a:ext cx="14726072" cy="5537073"/>
          </a:xfrm>
          <a:prstGeom prst="rect">
            <a:avLst/>
          </a:prstGeom>
        </p:spPr>
        <p:txBody>
          <a:bodyPr anchor="t" rtlCol="false" tIns="0" lIns="0" bIns="0" rIns="0">
            <a:spAutoFit/>
          </a:bodyPr>
          <a:lstStyle/>
          <a:p>
            <a:pPr algn="just">
              <a:lnSpc>
                <a:spcPts val="4031"/>
              </a:lnSpc>
            </a:pPr>
            <a:r>
              <a:rPr lang="en-US" sz="2879">
                <a:solidFill>
                  <a:srgbClr val="000000"/>
                </a:solidFill>
                <a:latin typeface="Canva Sans"/>
                <a:ea typeface="Canva Sans"/>
                <a:cs typeface="Canva Sans"/>
                <a:sym typeface="Canva Sans"/>
              </a:rPr>
              <a:t>     The Staybook Hotel Management System effectively manages multiple hotel branches with an easy to used design and secure role based access</a:t>
            </a:r>
          </a:p>
          <a:p>
            <a:pPr algn="just">
              <a:lnSpc>
                <a:spcPts val="4031"/>
              </a:lnSpc>
            </a:pPr>
          </a:p>
          <a:p>
            <a:pPr algn="just">
              <a:lnSpc>
                <a:spcPts val="4031"/>
              </a:lnSpc>
            </a:pPr>
            <a:r>
              <a:rPr lang="en-US" sz="2879">
                <a:solidFill>
                  <a:srgbClr val="000000"/>
                </a:solidFill>
                <a:latin typeface="Canva Sans"/>
                <a:ea typeface="Canva Sans"/>
                <a:cs typeface="Canva Sans"/>
                <a:sym typeface="Canva Sans"/>
              </a:rPr>
              <a:t>Strengths</a:t>
            </a:r>
          </a:p>
          <a:p>
            <a:pPr algn="just" marL="621790" indent="-310895" lvl="1">
              <a:lnSpc>
                <a:spcPts val="4031"/>
              </a:lnSpc>
              <a:buFont typeface="Arial"/>
              <a:buChar char="•"/>
            </a:pPr>
            <a:r>
              <a:rPr lang="en-US" sz="2879">
                <a:solidFill>
                  <a:srgbClr val="000000"/>
                </a:solidFill>
                <a:latin typeface="Canva Sans"/>
                <a:ea typeface="Canva Sans"/>
                <a:cs typeface="Canva Sans"/>
                <a:sym typeface="Canva Sans"/>
              </a:rPr>
              <a:t>Real time room and reservation tracking reduces booking conflicts</a:t>
            </a:r>
          </a:p>
          <a:p>
            <a:pPr algn="just" marL="621790" indent="-310895" lvl="1">
              <a:lnSpc>
                <a:spcPts val="4031"/>
              </a:lnSpc>
              <a:buFont typeface="Arial"/>
              <a:buChar char="•"/>
            </a:pPr>
            <a:r>
              <a:rPr lang="en-US" sz="2879">
                <a:solidFill>
                  <a:srgbClr val="000000"/>
                </a:solidFill>
                <a:latin typeface="Canva Sans"/>
                <a:ea typeface="Canva Sans"/>
                <a:cs typeface="Canva Sans"/>
                <a:sym typeface="Canva Sans"/>
              </a:rPr>
              <a:t>Database isolation prevents accidental data mixing between branches</a:t>
            </a:r>
          </a:p>
          <a:p>
            <a:pPr algn="just" marL="621790" indent="-310895" lvl="1">
              <a:lnSpc>
                <a:spcPts val="4031"/>
              </a:lnSpc>
              <a:buFont typeface="Arial"/>
              <a:buChar char="•"/>
            </a:pPr>
            <a:r>
              <a:rPr lang="en-US" sz="2879">
                <a:solidFill>
                  <a:srgbClr val="000000"/>
                </a:solidFill>
                <a:latin typeface="Canva Sans"/>
                <a:ea typeface="Canva Sans"/>
                <a:cs typeface="Canva Sans"/>
                <a:sym typeface="Canva Sans"/>
              </a:rPr>
              <a:t>Simple interface reduces training time for staff</a:t>
            </a:r>
          </a:p>
          <a:p>
            <a:pPr algn="just">
              <a:lnSpc>
                <a:spcPts val="4031"/>
              </a:lnSpc>
            </a:pPr>
          </a:p>
          <a:p>
            <a:pPr algn="just">
              <a:lnSpc>
                <a:spcPts val="4031"/>
              </a:lnSpc>
            </a:pPr>
            <a:r>
              <a:rPr lang="en-US" sz="2879">
                <a:solidFill>
                  <a:srgbClr val="000000"/>
                </a:solidFill>
                <a:latin typeface="Canva Sans"/>
                <a:ea typeface="Canva Sans"/>
                <a:cs typeface="Canva Sans"/>
                <a:sym typeface="Canva Sans"/>
              </a:rPr>
              <a:t>Usefulness</a:t>
            </a:r>
          </a:p>
          <a:p>
            <a:pPr algn="just">
              <a:lnSpc>
                <a:spcPts val="4031"/>
              </a:lnSpc>
            </a:pPr>
            <a:r>
              <a:rPr lang="en-US" sz="2879">
                <a:solidFill>
                  <a:srgbClr val="000000"/>
                </a:solidFill>
                <a:latin typeface="Canva Sans"/>
                <a:ea typeface="Canva Sans"/>
                <a:cs typeface="Canva Sans"/>
                <a:sym typeface="Canva Sans"/>
              </a:rPr>
              <a:t>   It automates hotel tasks, reduce errors, and gives staff instant access to information for faster costumer service.</a:t>
            </a:r>
          </a:p>
        </p:txBody>
      </p:sp>
    </p:spTree>
  </p:cSld>
  <p:clrMapOvr>
    <a:masterClrMapping/>
  </p:clrMapOvr>
</p:sld>
</file>

<file path=ppt/slides/slide12.xml><?xml version="1.0" encoding="utf-8"?>
<p:sld xmlns:p="http://schemas.openxmlformats.org/presentationml/2006/main" xmlns:a="http://schemas.openxmlformats.org/drawingml/2006/main">
  <p:cSld>
    <p:bg>
      <p:bgPr>
        <a:solidFill>
          <a:srgbClr val="F5F6F8"/>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
            <a:chOff x="0" y="0"/>
            <a:chExt cx="22991997" cy="1293300"/>
          </a:xfrm>
        </p:grpSpPr>
        <p:sp>
          <p:nvSpPr>
            <p:cNvPr name="Freeform 3" id="3"/>
            <p:cNvSpPr/>
            <p:nvPr/>
          </p:nvSpPr>
          <p:spPr>
            <a:xfrm flipH="false" flipV="false" rot="0">
              <a:off x="0" y="0"/>
              <a:ext cx="22991997" cy="1293300"/>
            </a:xfrm>
            <a:custGeom>
              <a:avLst/>
              <a:gdLst/>
              <a:ahLst/>
              <a:cxnLst/>
              <a:rect r="r" b="b" t="t" l="l"/>
              <a:pathLst>
                <a:path h="1293300" w="22991997">
                  <a:moveTo>
                    <a:pt x="0" y="0"/>
                  </a:moveTo>
                  <a:lnTo>
                    <a:pt x="22991997" y="0"/>
                  </a:lnTo>
                  <a:lnTo>
                    <a:pt x="22991997" y="1293300"/>
                  </a:lnTo>
                  <a:lnTo>
                    <a:pt x="0" y="1293300"/>
                  </a:lnTo>
                  <a:close/>
                </a:path>
              </a:pathLst>
            </a:custGeom>
            <a:solidFill>
              <a:srgbClr val="1067F4"/>
            </a:solidFill>
          </p:spPr>
        </p:sp>
      </p:grpSp>
      <p:sp>
        <p:nvSpPr>
          <p:cNvPr name="TextBox 4" id="4"/>
          <p:cNvSpPr txBox="true"/>
          <p:nvPr/>
        </p:nvSpPr>
        <p:spPr>
          <a:xfrm rot="0">
            <a:off x="380608" y="3175"/>
            <a:ext cx="6848808" cy="862330"/>
          </a:xfrm>
          <a:prstGeom prst="rect">
            <a:avLst/>
          </a:prstGeom>
        </p:spPr>
        <p:txBody>
          <a:bodyPr anchor="t" rtlCol="false" tIns="0" lIns="0" bIns="0" rIns="0">
            <a:spAutoFit/>
          </a:bodyPr>
          <a:lstStyle/>
          <a:p>
            <a:pPr algn="l">
              <a:lnSpc>
                <a:spcPts val="6019"/>
              </a:lnSpc>
            </a:pPr>
            <a:r>
              <a:rPr lang="en-US" sz="4299">
                <a:solidFill>
                  <a:srgbClr val="FFFFFF"/>
                </a:solidFill>
                <a:latin typeface="Rustic Printed"/>
                <a:ea typeface="Rustic Printed"/>
                <a:cs typeface="Rustic Printed"/>
                <a:sym typeface="Rustic Printed"/>
              </a:rPr>
              <a:t>Summary and Recommendations</a:t>
            </a:r>
          </a:p>
        </p:txBody>
      </p:sp>
      <p:sp>
        <p:nvSpPr>
          <p:cNvPr name="TextBox 5" id="5"/>
          <p:cNvSpPr txBox="true"/>
          <p:nvPr/>
        </p:nvSpPr>
        <p:spPr>
          <a:xfrm rot="0">
            <a:off x="689845" y="1185624"/>
            <a:ext cx="3003352" cy="448818"/>
          </a:xfrm>
          <a:prstGeom prst="rect">
            <a:avLst/>
          </a:prstGeom>
        </p:spPr>
        <p:txBody>
          <a:bodyPr anchor="t" rtlCol="false" tIns="0" lIns="0" bIns="0" rIns="0">
            <a:spAutoFit/>
          </a:bodyPr>
          <a:lstStyle/>
          <a:p>
            <a:pPr algn="l">
              <a:lnSpc>
                <a:spcPts val="3611"/>
              </a:lnSpc>
            </a:pPr>
            <a:r>
              <a:rPr lang="en-US" sz="2579" b="true">
                <a:solidFill>
                  <a:srgbClr val="000000"/>
                </a:solidFill>
                <a:latin typeface="Canva Sans Bold"/>
                <a:ea typeface="Canva Sans Bold"/>
                <a:cs typeface="Canva Sans Bold"/>
                <a:sym typeface="Canva Sans Bold"/>
              </a:rPr>
              <a:t>Recommendations</a:t>
            </a:r>
          </a:p>
        </p:txBody>
      </p:sp>
      <p:sp>
        <p:nvSpPr>
          <p:cNvPr name="TextBox 6" id="6"/>
          <p:cNvSpPr txBox="true"/>
          <p:nvPr/>
        </p:nvSpPr>
        <p:spPr>
          <a:xfrm rot="0">
            <a:off x="647140" y="1803352"/>
            <a:ext cx="16993719" cy="7764122"/>
          </a:xfrm>
          <a:prstGeom prst="rect">
            <a:avLst/>
          </a:prstGeom>
        </p:spPr>
        <p:txBody>
          <a:bodyPr anchor="t" rtlCol="false" tIns="0" lIns="0" bIns="0" rIns="0">
            <a:spAutoFit/>
          </a:bodyPr>
          <a:lstStyle/>
          <a:p>
            <a:pPr algn="just" marL="556138" indent="-278069" lvl="1">
              <a:lnSpc>
                <a:spcPts val="3606"/>
              </a:lnSpc>
              <a:buAutoNum type="arabicPeriod" startAt="1"/>
            </a:pPr>
            <a:r>
              <a:rPr lang="en-US" b="true" sz="2575">
                <a:solidFill>
                  <a:srgbClr val="000000"/>
                </a:solidFill>
                <a:latin typeface="Canva Sans Bold"/>
                <a:ea typeface="Canva Sans Bold"/>
                <a:cs typeface="Canva Sans Bold"/>
                <a:sym typeface="Canva Sans Bold"/>
              </a:rPr>
              <a:t>Hash passwords</a:t>
            </a:r>
            <a:r>
              <a:rPr lang="en-US" sz="2575">
                <a:solidFill>
                  <a:srgbClr val="000000"/>
                </a:solidFill>
                <a:latin typeface="Canva Sans"/>
                <a:ea typeface="Canva Sans"/>
                <a:cs typeface="Canva Sans"/>
                <a:sym typeface="Canva Sans"/>
              </a:rPr>
              <a:t> - Use bcrypt or hashlib instead of storing plain text for better security. Currently, all passwords are stored as readable text in the database, which is a major security risk if the database is compromised. Implementing password hashing will protect user credentials and make the system more secure.</a:t>
            </a:r>
          </a:p>
          <a:p>
            <a:pPr algn="just" marL="556138" indent="-278069" lvl="1">
              <a:lnSpc>
                <a:spcPts val="3606"/>
              </a:lnSpc>
              <a:buAutoNum type="arabicPeriod" startAt="1"/>
            </a:pPr>
            <a:r>
              <a:rPr lang="en-US" b="true" sz="2575">
                <a:solidFill>
                  <a:srgbClr val="000000"/>
                </a:solidFill>
                <a:latin typeface="Canva Sans Bold"/>
                <a:ea typeface="Canva Sans Bold"/>
                <a:cs typeface="Canva Sans Bold"/>
                <a:sym typeface="Canva Sans Bold"/>
              </a:rPr>
              <a:t>Add show/hide password visibility toggles in the branch management table</a:t>
            </a:r>
            <a:r>
              <a:rPr lang="en-US" sz="2575">
                <a:solidFill>
                  <a:srgbClr val="000000"/>
                </a:solidFill>
                <a:latin typeface="Canva Sans"/>
                <a:ea typeface="Canva Sans"/>
                <a:cs typeface="Canva Sans"/>
                <a:sym typeface="Canva Sans"/>
              </a:rPr>
              <a:t> - Admins managing branches need the ability to toggle between displaying passwords as plain text or asterisks. Currently, all branch passwords are visible in the table by default, which is a security risk. Each row should have an independent toggle button that allows admins to reveal or hide passwords as needed without exposing them to everyone viewing the screen.</a:t>
            </a:r>
          </a:p>
          <a:p>
            <a:pPr algn="just" marL="556138" indent="-278069" lvl="1">
              <a:lnSpc>
                <a:spcPts val="3606"/>
              </a:lnSpc>
              <a:buAutoNum type="arabicPeriod" startAt="1"/>
            </a:pPr>
            <a:r>
              <a:rPr lang="en-US" b="true" sz="2575">
                <a:solidFill>
                  <a:srgbClr val="000000"/>
                </a:solidFill>
                <a:latin typeface="Canva Sans Bold"/>
                <a:ea typeface="Canva Sans Bold"/>
                <a:cs typeface="Canva Sans Bold"/>
                <a:sym typeface="Canva Sans Bold"/>
              </a:rPr>
              <a:t>Allow admins to delete their own account and branch accounts </a:t>
            </a:r>
            <a:r>
              <a:rPr lang="en-US" sz="2575">
                <a:solidFill>
                  <a:srgbClr val="000000"/>
                </a:solidFill>
                <a:latin typeface="Canva Sans"/>
                <a:ea typeface="Canva Sans"/>
                <a:cs typeface="Canva Sans"/>
                <a:sym typeface="Canva Sans"/>
              </a:rPr>
              <a:t>- Requires password confirmation to prevent accidental deletion. This feature should include a confirmation dialog asking users to enter their password before permanently removing admin or branch accounts from the system.</a:t>
            </a:r>
          </a:p>
          <a:p>
            <a:pPr algn="just" marL="556138" indent="-278069" lvl="1">
              <a:lnSpc>
                <a:spcPts val="3606"/>
              </a:lnSpc>
              <a:buAutoNum type="arabicPeriod" startAt="1"/>
            </a:pPr>
            <a:r>
              <a:rPr lang="en-US" b="true" sz="2575">
                <a:solidFill>
                  <a:srgbClr val="000000"/>
                </a:solidFill>
                <a:latin typeface="Canva Sans Bold"/>
                <a:ea typeface="Canva Sans Bold"/>
                <a:cs typeface="Canva Sans Bold"/>
                <a:sym typeface="Canva Sans Bold"/>
              </a:rPr>
              <a:t>Include user activity logging</a:t>
            </a:r>
            <a:r>
              <a:rPr lang="en-US" sz="2575">
                <a:solidFill>
                  <a:srgbClr val="000000"/>
                </a:solidFill>
                <a:latin typeface="Canva Sans"/>
                <a:ea typeface="Canva Sans"/>
                <a:cs typeface="Canva Sans"/>
                <a:sym typeface="Canva Sans"/>
              </a:rPr>
              <a:t> - Track who made changes and when in the system. This creates an audit trail that helps identify unauthorized access, track mistakes, and maintain accountability among staff members using the application.</a:t>
            </a:r>
          </a:p>
          <a:p>
            <a:pPr algn="just" marL="556138" indent="-278069" lvl="1">
              <a:lnSpc>
                <a:spcPts val="3606"/>
              </a:lnSpc>
              <a:buAutoNum type="arabicPeriod" startAt="1"/>
            </a:pPr>
            <a:r>
              <a:rPr lang="en-US" b="true" sz="2575">
                <a:solidFill>
                  <a:srgbClr val="000000"/>
                </a:solidFill>
                <a:latin typeface="Canva Sans Bold"/>
                <a:ea typeface="Canva Sans Bold"/>
                <a:cs typeface="Canva Sans Bold"/>
                <a:sym typeface="Canva Sans Bold"/>
              </a:rPr>
              <a:t>Implement session timeout for inactive users</a:t>
            </a:r>
            <a:r>
              <a:rPr lang="en-US" sz="2575">
                <a:solidFill>
                  <a:srgbClr val="000000"/>
                </a:solidFill>
                <a:latin typeface="Canva Sans"/>
                <a:ea typeface="Canva Sans"/>
                <a:cs typeface="Canva Sans"/>
                <a:sym typeface="Canva Sans"/>
              </a:rPr>
              <a:t> - Automatically log them out after a period of inactivity. This prevents unauthorized access if a user forgets to log out or leaves their computer unattended.</a:t>
            </a:r>
          </a:p>
        </p:txBody>
      </p:sp>
    </p:spTree>
  </p:cSld>
  <p:clrMapOvr>
    <a:masterClrMapping/>
  </p:clrMapOvr>
</p:sld>
</file>

<file path=ppt/slides/slide13.xml><?xml version="1.0" encoding="utf-8"?>
<p:sld xmlns:p="http://schemas.openxmlformats.org/presentationml/2006/main" xmlns:a="http://schemas.openxmlformats.org/drawingml/2006/main">
  <p:cSld>
    <p:bg>
      <p:bgPr>
        <a:solidFill>
          <a:srgbClr val="F5F6F8"/>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
            <a:chOff x="0" y="0"/>
            <a:chExt cx="22991997" cy="1293300"/>
          </a:xfrm>
        </p:grpSpPr>
        <p:sp>
          <p:nvSpPr>
            <p:cNvPr name="Freeform 3" id="3"/>
            <p:cNvSpPr/>
            <p:nvPr/>
          </p:nvSpPr>
          <p:spPr>
            <a:xfrm flipH="false" flipV="false" rot="0">
              <a:off x="0" y="0"/>
              <a:ext cx="22991997" cy="1293300"/>
            </a:xfrm>
            <a:custGeom>
              <a:avLst/>
              <a:gdLst/>
              <a:ahLst/>
              <a:cxnLst/>
              <a:rect r="r" b="b" t="t" l="l"/>
              <a:pathLst>
                <a:path h="1293300" w="22991997">
                  <a:moveTo>
                    <a:pt x="0" y="0"/>
                  </a:moveTo>
                  <a:lnTo>
                    <a:pt x="22991997" y="0"/>
                  </a:lnTo>
                  <a:lnTo>
                    <a:pt x="22991997" y="1293300"/>
                  </a:lnTo>
                  <a:lnTo>
                    <a:pt x="0" y="1293300"/>
                  </a:lnTo>
                  <a:close/>
                </a:path>
              </a:pathLst>
            </a:custGeom>
            <a:solidFill>
              <a:srgbClr val="1067F4"/>
            </a:solidFill>
          </p:spPr>
        </p:sp>
      </p:grpSp>
      <p:grpSp>
        <p:nvGrpSpPr>
          <p:cNvPr name="Group 4" id="4"/>
          <p:cNvGrpSpPr/>
          <p:nvPr/>
        </p:nvGrpSpPr>
        <p:grpSpPr>
          <a:xfrm rot="0">
            <a:off x="8078224" y="8697942"/>
            <a:ext cx="2131553" cy="774671"/>
            <a:chOff x="0" y="0"/>
            <a:chExt cx="2842071" cy="1032894"/>
          </a:xfrm>
        </p:grpSpPr>
        <p:grpSp>
          <p:nvGrpSpPr>
            <p:cNvPr name="Group 5" id="5"/>
            <p:cNvGrpSpPr/>
            <p:nvPr/>
          </p:nvGrpSpPr>
          <p:grpSpPr>
            <a:xfrm rot="0">
              <a:off x="0" y="0"/>
              <a:ext cx="2842071" cy="1032894"/>
              <a:chOff x="0" y="0"/>
              <a:chExt cx="1913890" cy="695566"/>
            </a:xfrm>
          </p:grpSpPr>
          <p:sp>
            <p:nvSpPr>
              <p:cNvPr name="Freeform 6" id="6"/>
              <p:cNvSpPr/>
              <p:nvPr/>
            </p:nvSpPr>
            <p:spPr>
              <a:xfrm flipH="false" flipV="false" rot="0">
                <a:off x="31750" y="31750"/>
                <a:ext cx="1849148" cy="632066"/>
              </a:xfrm>
              <a:custGeom>
                <a:avLst/>
                <a:gdLst/>
                <a:ahLst/>
                <a:cxnLst/>
                <a:rect r="r" b="b" t="t" l="l"/>
                <a:pathLst>
                  <a:path h="632066" w="1849148">
                    <a:moveTo>
                      <a:pt x="1757680" y="632066"/>
                    </a:moveTo>
                    <a:lnTo>
                      <a:pt x="92710" y="632066"/>
                    </a:lnTo>
                    <a:cubicBezTo>
                      <a:pt x="41910" y="632066"/>
                      <a:pt x="0" y="590155"/>
                      <a:pt x="0" y="539355"/>
                    </a:cubicBezTo>
                    <a:lnTo>
                      <a:pt x="0" y="92710"/>
                    </a:lnTo>
                    <a:cubicBezTo>
                      <a:pt x="0" y="41910"/>
                      <a:pt x="41910" y="0"/>
                      <a:pt x="92710" y="0"/>
                    </a:cubicBezTo>
                    <a:lnTo>
                      <a:pt x="1756410" y="0"/>
                    </a:lnTo>
                    <a:cubicBezTo>
                      <a:pt x="1807210" y="0"/>
                      <a:pt x="1849120" y="41910"/>
                      <a:pt x="1849120" y="92710"/>
                    </a:cubicBezTo>
                    <a:lnTo>
                      <a:pt x="1849120" y="538086"/>
                    </a:lnTo>
                    <a:cubicBezTo>
                      <a:pt x="1850390" y="590155"/>
                      <a:pt x="1808480" y="632066"/>
                      <a:pt x="1757680" y="632066"/>
                    </a:cubicBezTo>
                    <a:close/>
                  </a:path>
                </a:pathLst>
              </a:custGeom>
              <a:solidFill>
                <a:srgbClr val="F5F6F8"/>
              </a:solidFill>
            </p:spPr>
          </p:sp>
          <p:sp>
            <p:nvSpPr>
              <p:cNvPr name="Freeform 7" id="7"/>
              <p:cNvSpPr/>
              <p:nvPr/>
            </p:nvSpPr>
            <p:spPr>
              <a:xfrm flipH="false" flipV="false" rot="0">
                <a:off x="0" y="0"/>
                <a:ext cx="1913890" cy="695566"/>
              </a:xfrm>
              <a:custGeom>
                <a:avLst/>
                <a:gdLst/>
                <a:ahLst/>
                <a:cxnLst/>
                <a:rect r="r" b="b" t="t" l="l"/>
                <a:pathLst>
                  <a:path h="695566" w="1913890">
                    <a:moveTo>
                      <a:pt x="1789430" y="59690"/>
                    </a:moveTo>
                    <a:cubicBezTo>
                      <a:pt x="1824990" y="59690"/>
                      <a:pt x="1854200" y="88900"/>
                      <a:pt x="1854200" y="124460"/>
                    </a:cubicBezTo>
                    <a:lnTo>
                      <a:pt x="1854200" y="571106"/>
                    </a:lnTo>
                    <a:cubicBezTo>
                      <a:pt x="1854200" y="606666"/>
                      <a:pt x="1824990" y="635876"/>
                      <a:pt x="1789430" y="635876"/>
                    </a:cubicBezTo>
                    <a:lnTo>
                      <a:pt x="124460" y="635876"/>
                    </a:lnTo>
                    <a:cubicBezTo>
                      <a:pt x="88900" y="635876"/>
                      <a:pt x="59690" y="606666"/>
                      <a:pt x="59690" y="571106"/>
                    </a:cubicBezTo>
                    <a:lnTo>
                      <a:pt x="59690" y="124460"/>
                    </a:lnTo>
                    <a:cubicBezTo>
                      <a:pt x="59690" y="88900"/>
                      <a:pt x="88900" y="59690"/>
                      <a:pt x="124460" y="59690"/>
                    </a:cubicBezTo>
                    <a:lnTo>
                      <a:pt x="1789430" y="59690"/>
                    </a:lnTo>
                    <a:moveTo>
                      <a:pt x="1789430" y="0"/>
                    </a:moveTo>
                    <a:lnTo>
                      <a:pt x="124460" y="0"/>
                    </a:lnTo>
                    <a:cubicBezTo>
                      <a:pt x="55880" y="0"/>
                      <a:pt x="0" y="55880"/>
                      <a:pt x="0" y="124460"/>
                    </a:cubicBezTo>
                    <a:lnTo>
                      <a:pt x="0" y="571106"/>
                    </a:lnTo>
                    <a:cubicBezTo>
                      <a:pt x="0" y="639686"/>
                      <a:pt x="55880" y="695566"/>
                      <a:pt x="124460" y="695566"/>
                    </a:cubicBezTo>
                    <a:lnTo>
                      <a:pt x="1789430" y="695566"/>
                    </a:lnTo>
                    <a:cubicBezTo>
                      <a:pt x="1858010" y="695566"/>
                      <a:pt x="1913890" y="639686"/>
                      <a:pt x="1913890" y="571106"/>
                    </a:cubicBezTo>
                    <a:lnTo>
                      <a:pt x="1913890" y="124460"/>
                    </a:lnTo>
                    <a:cubicBezTo>
                      <a:pt x="1913890" y="55880"/>
                      <a:pt x="1858010" y="0"/>
                      <a:pt x="1789430" y="0"/>
                    </a:cubicBezTo>
                    <a:close/>
                  </a:path>
                </a:pathLst>
              </a:custGeom>
              <a:solidFill>
                <a:srgbClr val="1067F4"/>
              </a:solidFill>
            </p:spPr>
          </p:sp>
        </p:grpSp>
        <p:sp>
          <p:nvSpPr>
            <p:cNvPr name="TextBox 8" id="8"/>
            <p:cNvSpPr txBox="true"/>
            <p:nvPr/>
          </p:nvSpPr>
          <p:spPr>
            <a:xfrm rot="0">
              <a:off x="81575" y="230062"/>
              <a:ext cx="2678920" cy="525145"/>
            </a:xfrm>
            <a:prstGeom prst="rect">
              <a:avLst/>
            </a:prstGeom>
          </p:spPr>
          <p:txBody>
            <a:bodyPr anchor="t" rtlCol="false" tIns="0" lIns="0" bIns="0" rIns="0">
              <a:spAutoFit/>
            </a:bodyPr>
            <a:lstStyle/>
            <a:p>
              <a:pPr algn="ctr">
                <a:lnSpc>
                  <a:spcPts val="3359"/>
                </a:lnSpc>
              </a:pPr>
              <a:r>
                <a:rPr lang="en-US" sz="2400">
                  <a:solidFill>
                    <a:srgbClr val="061313"/>
                  </a:solidFill>
                  <a:latin typeface="Source Sans Pro"/>
                  <a:ea typeface="Source Sans Pro"/>
                  <a:cs typeface="Source Sans Pro"/>
                  <a:sym typeface="Source Sans Pro"/>
                </a:rPr>
                <a:t>The End</a:t>
              </a:r>
            </a:p>
          </p:txBody>
        </p:sp>
      </p:grpSp>
      <p:sp>
        <p:nvSpPr>
          <p:cNvPr name="TextBox 9" id="9"/>
          <p:cNvSpPr txBox="true"/>
          <p:nvPr/>
        </p:nvSpPr>
        <p:spPr>
          <a:xfrm rot="0">
            <a:off x="1028700" y="4000500"/>
            <a:ext cx="16230600" cy="1543050"/>
          </a:xfrm>
          <a:prstGeom prst="rect">
            <a:avLst/>
          </a:prstGeom>
        </p:spPr>
        <p:txBody>
          <a:bodyPr anchor="t" rtlCol="false" tIns="0" lIns="0" bIns="0" rIns="0">
            <a:spAutoFit/>
          </a:bodyPr>
          <a:lstStyle/>
          <a:p>
            <a:pPr algn="ctr">
              <a:lnSpc>
                <a:spcPts val="12599"/>
              </a:lnSpc>
            </a:pPr>
            <a:r>
              <a:rPr lang="en-US" b="true" sz="9000">
                <a:solidFill>
                  <a:srgbClr val="061313"/>
                </a:solidFill>
                <a:latin typeface="Open Sauce Bold"/>
                <a:ea typeface="Open Sauce Bold"/>
                <a:cs typeface="Open Sauce Bold"/>
                <a:sym typeface="Open Sauce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DAG6JSMadlU</dc:identifier>
  <dcterms:modified xsi:type="dcterms:W3CDTF">2011-08-01T06:04:30Z</dcterms:modified>
  <cp:revision>1</cp:revision>
  <dc:title>Blue Dust White Simple Minimalist All Purpose Presentation</dc:title>
</cp:coreProperties>
</file>